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7944D-EC8D-4EFD-8AAC-41EB36849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9E58CF-82E7-415D-93DF-9D6471DA0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198A6-4686-4CC7-99BF-69B1C2C4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1A5C29-7A19-4F0A-B703-222B5592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489015-317F-4CEB-8071-D4D99B8C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711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6FFD1-36B2-4393-8E91-C6DA3187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B8F7C-1C71-4979-BD25-BE6FBC19D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9E51A6-B47B-4B56-B909-0A26507E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474AFF-69F4-4A15-AD7D-669BAEDB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95E6ED-6234-4A78-85F0-CAEDC76C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78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AB98B-0B72-4569-89FF-A13E4AE0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FA2FEC-9579-424D-9370-25DA67AB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3DB70A-7748-499A-A02E-2231B0AE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9DC7D9-C49E-48B3-9464-9AF4E0BF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AB886-0CB8-43C0-8934-E0A81C4C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05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6AF6F-3712-4881-90C1-615DFF68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EA3E1-01C9-47CB-8517-36C81090F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AB2677-04DC-4258-957F-BF4020F92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A242F3-F7ED-4DCB-BB66-44FA96EC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C83B23-8609-4914-940A-19F116F6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4E012B-7AD9-4BE5-8122-01E5A560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04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8B28E-F5C4-456F-8CDE-011EC6CA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CB22C7-D413-4F8C-BECB-E03921D8F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5EA900-A016-47DB-A605-C0C7F7BD9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6EA783-AAA2-4A39-9B42-1705C25AD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176763-88E0-4205-BBFF-03D94F516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C2C377-C47C-43CD-BE48-0E3BB1A9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FCF3568-E1C2-4F10-B734-412F49F30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ECD569-BC09-46A6-B0D6-57CC44AF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97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18A69-4970-4BD4-81B5-740E04D7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562AFA-11A6-468A-8681-0CE33CBC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DF304A-3A8F-4FF0-955E-2C6D1751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674579-6706-4588-9F00-FD224280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1571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A9BDD8-61D3-4D20-8D1A-FCEEA01F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9695E1-E61C-4EBA-88A5-D72F227F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14DF7C-392D-4FAF-8869-1C802FF4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61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ADE0E-9F49-4D4B-8F15-DEFEC47C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C25302-E938-48E9-A076-2F8B40336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A518BF-D278-4CBA-AF98-3B6B7517B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A5B01E-D4A1-474B-B6E4-CD36761A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910D4B-AF6F-494D-A43E-82C9E964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08BE22-F1B8-4A2B-9F98-3AD490CF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45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697A5-1A66-45C6-A475-2F5B496E7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BFF612-6F4C-464C-A144-7A09747A6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B83F7B-6A82-45CC-B6B0-82E515B36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1415B3-461F-4CA5-A625-4963217B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60A53A-1F47-4910-85D1-4AE8D2C8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0993FB-EDA4-4834-A0F2-32218F62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9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FC9F-C771-49A6-8A82-5D30CEE3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8102F6-4F0D-4BC6-ABAE-C35B8CEC3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008941-2CAC-43E5-B342-5D4624DF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2EEA00-24B8-4041-8DCB-786CF186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83CE8D-1622-49F5-B27E-1DE1D767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642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B9ADA8-82CB-4C3C-804F-29AFE1E01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CBA6DA-2CA4-44A3-8683-1A283858C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6C63D7-B8E2-44FE-A899-178D4395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741C50-AC4C-42E8-93E1-55CA5693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C19D1F-F371-4DE7-83D4-68F40CA3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D7BB13C-82D1-438B-90C8-94861534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25BD40-28EA-4BA7-8944-DDE90BC95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A1F723-C401-4340-87F1-9C895C51D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6FC17-F14C-4536-A9F1-D434AD519E9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6D7D3-FA14-4671-B75D-57F2349B6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8DA3F1-F891-43A2-8EEB-07B8931A9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C153B-A19C-4384-90F0-35831940B8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9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55A9812-A3F5-4486-9758-C92A7F05604F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ED7ED5D-E42A-491E-A206-BFAFD825BAE2}"/>
              </a:ext>
            </a:extLst>
          </p:cNvPr>
          <p:cNvSpPr/>
          <p:nvPr/>
        </p:nvSpPr>
        <p:spPr>
          <a:xfrm>
            <a:off x="4445000" y="1016000"/>
            <a:ext cx="3302000" cy="35560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F7E496-8174-40E5-B0D5-C57B86034E9C}"/>
              </a:ext>
            </a:extLst>
          </p:cNvPr>
          <p:cNvSpPr txBox="1"/>
          <p:nvPr/>
        </p:nvSpPr>
        <p:spPr>
          <a:xfrm>
            <a:off x="4445000" y="105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58A6FF"/>
                </a:solidFill>
                <a:latin typeface="Segoe UI" panose="020B0502040204020203" pitchFamily="34" charset="0"/>
              </a:rPr>
              <a:t>ATIVIDADE PRATICA - SQLite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F6A5C4-761F-49D1-A0EF-FDE81D5E5A36}"/>
              </a:ext>
            </a:extLst>
          </p:cNvPr>
          <p:cNvSpPr txBox="1"/>
          <p:nvPr/>
        </p:nvSpPr>
        <p:spPr>
          <a:xfrm>
            <a:off x="1524000" y="149860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600" b="1">
                <a:solidFill>
                  <a:srgbClr val="E6EDF3"/>
                </a:solidFill>
                <a:latin typeface="Segoe UI" panose="020B0502040204020203" pitchFamily="34" charset="0"/>
              </a:rPr>
              <a:t>Biblioteca Universitaria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4F6D49-34AB-4F7A-A1BA-0DA841A118F1}"/>
              </a:ext>
            </a:extLst>
          </p:cNvPr>
          <p:cNvSpPr txBox="1"/>
          <p:nvPr/>
        </p:nvSpPr>
        <p:spPr>
          <a:xfrm>
            <a:off x="1524000" y="254000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B949E"/>
                </a:solidFill>
                <a:latin typeface="Segoe UI" panose="020B0502040204020203" pitchFamily="34" charset="0"/>
              </a:rPr>
              <a:t>Aprenda SQL do zero: alunos, livros, exemplares e emprestimos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E745220-52C2-49FE-8765-04A429CA3B66}"/>
              </a:ext>
            </a:extLst>
          </p:cNvPr>
          <p:cNvSpPr/>
          <p:nvPr/>
        </p:nvSpPr>
        <p:spPr>
          <a:xfrm>
            <a:off x="2032000" y="3149600"/>
            <a:ext cx="2032000" cy="35560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05D01F-1666-4A58-8660-EC4F93FF61F6}"/>
              </a:ext>
            </a:extLst>
          </p:cNvPr>
          <p:cNvSpPr txBox="1"/>
          <p:nvPr/>
        </p:nvSpPr>
        <p:spPr>
          <a:xfrm>
            <a:off x="2032000" y="3175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SQLite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AFEE14F-6F22-4586-880C-D66592C9FF8F}"/>
              </a:ext>
            </a:extLst>
          </p:cNvPr>
          <p:cNvSpPr/>
          <p:nvPr/>
        </p:nvSpPr>
        <p:spPr>
          <a:xfrm>
            <a:off x="4267200" y="3149600"/>
            <a:ext cx="2413000" cy="355600"/>
          </a:xfrm>
          <a:prstGeom prst="roundRect">
            <a:avLst/>
          </a:prstGeom>
          <a:solidFill>
            <a:srgbClr val="0A1E0F"/>
          </a:solidFill>
          <a:ln w="12700">
            <a:solidFill>
              <a:srgbClr val="3FB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EC35873-F825-4FFE-A86D-6FA9DF5D8996}"/>
              </a:ext>
            </a:extLst>
          </p:cNvPr>
          <p:cNvSpPr txBox="1"/>
          <p:nvPr/>
        </p:nvSpPr>
        <p:spPr>
          <a:xfrm>
            <a:off x="4267200" y="3175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3FB950"/>
                </a:solidFill>
                <a:latin typeface="Segoe UI" panose="020B0502040204020203" pitchFamily="34" charset="0"/>
              </a:rPr>
              <a:t>Banco de Dados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623AFE-4148-460C-8CAC-D0DAADED148E}"/>
              </a:ext>
            </a:extLst>
          </p:cNvPr>
          <p:cNvSpPr/>
          <p:nvPr/>
        </p:nvSpPr>
        <p:spPr>
          <a:xfrm>
            <a:off x="6883400" y="3149600"/>
            <a:ext cx="2222500" cy="355600"/>
          </a:xfrm>
          <a:prstGeom prst="roundRect">
            <a:avLst/>
          </a:prstGeom>
          <a:solidFill>
            <a:srgbClr val="1E0F37"/>
          </a:solidFill>
          <a:ln w="12700">
            <a:solidFill>
              <a:srgbClr val="D2A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3F8FA76-2CCD-4B5B-8484-A2DC26D9FFA2}"/>
              </a:ext>
            </a:extLst>
          </p:cNvPr>
          <p:cNvSpPr txBox="1"/>
          <p:nvPr/>
        </p:nvSpPr>
        <p:spPr>
          <a:xfrm>
            <a:off x="6883400" y="31750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D2A8FF"/>
                </a:solidFill>
                <a:latin typeface="Segoe UI" panose="020B0502040204020203" pitchFamily="34" charset="0"/>
              </a:rPr>
              <a:t>Para Iniciantes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03E3CDD-6B7F-4CCF-8BC5-39A6F00BA641}"/>
              </a:ext>
            </a:extLst>
          </p:cNvPr>
          <p:cNvSpPr/>
          <p:nvPr/>
        </p:nvSpPr>
        <p:spPr>
          <a:xfrm>
            <a:off x="9309100" y="3149600"/>
            <a:ext cx="2413000" cy="355600"/>
          </a:xfrm>
          <a:prstGeom prst="roundRect">
            <a:avLst/>
          </a:prstGeom>
          <a:solidFill>
            <a:srgbClr val="281905"/>
          </a:solidFill>
          <a:ln w="12700">
            <a:solidFill>
              <a:srgbClr val="FFA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FBB7CD-3D85-4D0C-95DD-EF8156A78E76}"/>
              </a:ext>
            </a:extLst>
          </p:cNvPr>
          <p:cNvSpPr txBox="1"/>
          <p:nvPr/>
        </p:nvSpPr>
        <p:spPr>
          <a:xfrm>
            <a:off x="9309100" y="3175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 b="1">
                <a:solidFill>
                  <a:srgbClr val="FFA657"/>
                </a:solidFill>
                <a:latin typeface="Segoe UI" panose="020B0502040204020203" pitchFamily="34" charset="0"/>
              </a:rPr>
              <a:t>Atividade Pratica</a:t>
            </a:r>
          </a:p>
        </p:txBody>
      </p:sp>
    </p:spTree>
    <p:extLst>
      <p:ext uri="{BB962C8B-B14F-4D97-AF65-F5344CB8AC3E}">
        <p14:creationId xmlns:p14="http://schemas.microsoft.com/office/powerpoint/2010/main" val="253562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4B0E966-4E33-4DE4-9CCB-FADF8DCA78F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BCE7A0-83B8-476F-8899-8A2DFD3BB636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60A731-87C4-4445-BBB0-6A91D528D7A3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O que voce vai aprender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1BBB3B-4BBE-4D73-83F6-DD8584BA60AA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2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AADE14-EDAD-407C-8D56-813B1DED481F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000" b="1">
                <a:solidFill>
                  <a:srgbClr val="58A6FF"/>
                </a:solidFill>
                <a:latin typeface="Segoe UI" panose="020B0502040204020203" pitchFamily="34" charset="0"/>
              </a:rPr>
              <a:t>Objetivos da Atividade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6C63A2-3FB2-4673-A45E-F582C70C6C8F}"/>
              </a:ext>
            </a:extLst>
          </p:cNvPr>
          <p:cNvSpPr/>
          <p:nvPr/>
        </p:nvSpPr>
        <p:spPr>
          <a:xfrm>
            <a:off x="508000" y="1511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E6D02F-7D81-4244-A2CF-385705609568}"/>
              </a:ext>
            </a:extLst>
          </p:cNvPr>
          <p:cNvSpPr txBox="1"/>
          <p:nvPr/>
        </p:nvSpPr>
        <p:spPr>
          <a:xfrm>
            <a:off x="711200" y="1422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O que e um banco de dados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50186A3-C9F1-43FB-B149-670570C86218}"/>
              </a:ext>
            </a:extLst>
          </p:cNvPr>
          <p:cNvSpPr/>
          <p:nvPr/>
        </p:nvSpPr>
        <p:spPr>
          <a:xfrm>
            <a:off x="508000" y="1892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536E639-4922-49AF-B698-156983B46EBA}"/>
              </a:ext>
            </a:extLst>
          </p:cNvPr>
          <p:cNvSpPr txBox="1"/>
          <p:nvPr/>
        </p:nvSpPr>
        <p:spPr>
          <a:xfrm>
            <a:off x="711200" y="1803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O que e tabela, coluna e registro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401BDB-4CAD-4909-9395-0282220397F6}"/>
              </a:ext>
            </a:extLst>
          </p:cNvPr>
          <p:cNvSpPr/>
          <p:nvPr/>
        </p:nvSpPr>
        <p:spPr>
          <a:xfrm>
            <a:off x="508000" y="2273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FD5AE6-A6C9-4A33-8FAC-695D2AFE6911}"/>
              </a:ext>
            </a:extLst>
          </p:cNvPr>
          <p:cNvSpPr txBox="1"/>
          <p:nvPr/>
        </p:nvSpPr>
        <p:spPr>
          <a:xfrm>
            <a:off x="711200" y="2184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O que e PRIMARY KEY / FOREIGN KEY</a:t>
            </a:r>
            <a:endParaRPr lang="pt-BR" sz="1300">
              <a:solidFill>
                <a:srgbClr val="E6EDF3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49EE7E-13E3-48A3-B216-2F5C54DB8421}"/>
              </a:ext>
            </a:extLst>
          </p:cNvPr>
          <p:cNvSpPr/>
          <p:nvPr/>
        </p:nvSpPr>
        <p:spPr>
          <a:xfrm>
            <a:off x="508000" y="2654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073BA97-A1A4-4568-B3E7-B720A8EB8CAD}"/>
              </a:ext>
            </a:extLst>
          </p:cNvPr>
          <p:cNvSpPr txBox="1"/>
          <p:nvPr/>
        </p:nvSpPr>
        <p:spPr>
          <a:xfrm>
            <a:off x="711200" y="2565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criar tabelas (CREATE TABLE)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63BAD4A-1648-40C1-A9A5-FC7B0EF191D7}"/>
              </a:ext>
            </a:extLst>
          </p:cNvPr>
          <p:cNvSpPr/>
          <p:nvPr/>
        </p:nvSpPr>
        <p:spPr>
          <a:xfrm>
            <a:off x="508000" y="3035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1A4484-D346-4021-94EC-3F02A8DB59A0}"/>
              </a:ext>
            </a:extLst>
          </p:cNvPr>
          <p:cNvSpPr txBox="1"/>
          <p:nvPr/>
        </p:nvSpPr>
        <p:spPr>
          <a:xfrm>
            <a:off x="711200" y="2946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inserir dados (INSERT INTO)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95AB479-BC29-4EE0-9EBE-746BCDD422F2}"/>
              </a:ext>
            </a:extLst>
          </p:cNvPr>
          <p:cNvSpPr/>
          <p:nvPr/>
        </p:nvSpPr>
        <p:spPr>
          <a:xfrm>
            <a:off x="508000" y="3416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1E8B4A-0A4D-49E8-B178-C407574A18C6}"/>
              </a:ext>
            </a:extLst>
          </p:cNvPr>
          <p:cNvSpPr txBox="1"/>
          <p:nvPr/>
        </p:nvSpPr>
        <p:spPr>
          <a:xfrm>
            <a:off x="711200" y="3327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consultar dados (SELECT)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22482A6-1B3E-4406-ABDD-6FCD3642BFA2}"/>
              </a:ext>
            </a:extLst>
          </p:cNvPr>
          <p:cNvSpPr/>
          <p:nvPr/>
        </p:nvSpPr>
        <p:spPr>
          <a:xfrm>
            <a:off x="508000" y="3797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73DFCFA-EBF0-49D7-8EDE-318B67F34A1D}"/>
              </a:ext>
            </a:extLst>
          </p:cNvPr>
          <p:cNvSpPr txBox="1"/>
          <p:nvPr/>
        </p:nvSpPr>
        <p:spPr>
          <a:xfrm>
            <a:off x="711200" y="3708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filtrar dados (WHERE)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481169-A891-46D7-86BC-AB1C49A8FFC8}"/>
              </a:ext>
            </a:extLst>
          </p:cNvPr>
          <p:cNvSpPr/>
          <p:nvPr/>
        </p:nvSpPr>
        <p:spPr>
          <a:xfrm>
            <a:off x="6223000" y="1511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8347B68-71A0-4510-B054-D601FDE2BB6E}"/>
              </a:ext>
            </a:extLst>
          </p:cNvPr>
          <p:cNvSpPr txBox="1"/>
          <p:nvPr/>
        </p:nvSpPr>
        <p:spPr>
          <a:xfrm>
            <a:off x="6426200" y="1422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ordenar dados (ORDER BY)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4E71E58-CCCF-4055-976D-4958D50E17E1}"/>
              </a:ext>
            </a:extLst>
          </p:cNvPr>
          <p:cNvSpPr/>
          <p:nvPr/>
        </p:nvSpPr>
        <p:spPr>
          <a:xfrm>
            <a:off x="6223000" y="1892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745AF6C-4845-4446-A541-F37350F94280}"/>
              </a:ext>
            </a:extLst>
          </p:cNvPr>
          <p:cNvSpPr txBox="1"/>
          <p:nvPr/>
        </p:nvSpPr>
        <p:spPr>
          <a:xfrm>
            <a:off x="6426200" y="1803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atualizar dados (UPDATE)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5E4C611-0192-4EB8-9804-210BEEDA8D65}"/>
              </a:ext>
            </a:extLst>
          </p:cNvPr>
          <p:cNvSpPr/>
          <p:nvPr/>
        </p:nvSpPr>
        <p:spPr>
          <a:xfrm>
            <a:off x="6223000" y="2273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ACF750F-E071-449F-A727-78FD48D81A50}"/>
              </a:ext>
            </a:extLst>
          </p:cNvPr>
          <p:cNvSpPr txBox="1"/>
          <p:nvPr/>
        </p:nvSpPr>
        <p:spPr>
          <a:xfrm>
            <a:off x="6426200" y="2184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excluir dados (DELETE)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8C1A472-118D-4122-AB06-7DD7B704267E}"/>
              </a:ext>
            </a:extLst>
          </p:cNvPr>
          <p:cNvSpPr/>
          <p:nvPr/>
        </p:nvSpPr>
        <p:spPr>
          <a:xfrm>
            <a:off x="6223000" y="2654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4F1B00E-3E8C-4C74-9C6A-A5D52496E4B0}"/>
              </a:ext>
            </a:extLst>
          </p:cNvPr>
          <p:cNvSpPr txBox="1"/>
          <p:nvPr/>
        </p:nvSpPr>
        <p:spPr>
          <a:xfrm>
            <a:off x="6426200" y="2565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relacionar tabelas (JOIN)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CA115ED-0336-47A3-AB83-479AF620C89E}"/>
              </a:ext>
            </a:extLst>
          </p:cNvPr>
          <p:cNvSpPr/>
          <p:nvPr/>
        </p:nvSpPr>
        <p:spPr>
          <a:xfrm>
            <a:off x="6223000" y="3035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9F29354-8D37-4B75-8699-ADBE537BD3C1}"/>
              </a:ext>
            </a:extLst>
          </p:cNvPr>
          <p:cNvSpPr txBox="1"/>
          <p:nvPr/>
        </p:nvSpPr>
        <p:spPr>
          <a:xfrm>
            <a:off x="6426200" y="2946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contar registros (COUNT)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3910D5B-47FE-4F16-9388-6955F9BE3725}"/>
              </a:ext>
            </a:extLst>
          </p:cNvPr>
          <p:cNvSpPr/>
          <p:nvPr/>
        </p:nvSpPr>
        <p:spPr>
          <a:xfrm>
            <a:off x="6223000" y="3416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B8FCD19-2A91-40F5-AA6B-2D0FD83FC8F5}"/>
              </a:ext>
            </a:extLst>
          </p:cNvPr>
          <p:cNvSpPr txBox="1"/>
          <p:nvPr/>
        </p:nvSpPr>
        <p:spPr>
          <a:xfrm>
            <a:off x="6426200" y="3327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agrupar dados (GROUP BY)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E9CFE36-5C2F-4FF5-8F8E-442A3BC688B4}"/>
              </a:ext>
            </a:extLst>
          </p:cNvPr>
          <p:cNvSpPr/>
          <p:nvPr/>
        </p:nvSpPr>
        <p:spPr>
          <a:xfrm>
            <a:off x="6223000" y="3797300"/>
            <a:ext cx="88900" cy="889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26F2BE1-C0F5-4481-A598-D2DE2468F95E}"/>
              </a:ext>
            </a:extLst>
          </p:cNvPr>
          <p:cNvSpPr txBox="1"/>
          <p:nvPr/>
        </p:nvSpPr>
        <p:spPr>
          <a:xfrm>
            <a:off x="6426200" y="3708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E6EDF3"/>
                </a:solidFill>
                <a:latin typeface="Segoe UI" panose="020B0502040204020203" pitchFamily="34" charset="0"/>
              </a:rPr>
              <a:t>Como usar condicoes (CASE)</a:t>
            </a:r>
          </a:p>
        </p:txBody>
      </p:sp>
    </p:spTree>
    <p:extLst>
      <p:ext uri="{BB962C8B-B14F-4D97-AF65-F5344CB8AC3E}">
        <p14:creationId xmlns:p14="http://schemas.microsoft.com/office/powerpoint/2010/main" val="137745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C6ADD8F-D779-4AE3-875E-EAD3477EE8A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39EB8D6-8018-4114-BA8B-627807A3F59E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C9BFEE-5B96-4358-8F80-F46A5F770164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Conceitos Basicos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445FA4-6FB7-494E-B9A8-32F1115B6BAE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3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01B652-ADB4-4C2D-8333-10847D39C2D5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O que e um Banco de Dados?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140F6A-8B3E-47DC-9E12-541BC53BF897}"/>
              </a:ext>
            </a:extLst>
          </p:cNvPr>
          <p:cNvSpPr txBox="1"/>
          <p:nvPr/>
        </p:nvSpPr>
        <p:spPr>
          <a:xfrm>
            <a:off x="508000" y="1295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Um banco de dados digital e como uma biblioteca fisica: organizado e de consulta rapida.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8CE752-C983-4F1B-AF3F-4305A89B8D5C}"/>
              </a:ext>
            </a:extLst>
          </p:cNvPr>
          <p:cNvSpPr txBox="1"/>
          <p:nvPr/>
        </p:nvSpPr>
        <p:spPr>
          <a:xfrm>
            <a:off x="508000" y="154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SQLite fica num unico arquivo - ideal para aprender SQL!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F92C2A3-C691-4563-A413-E37B77B80025}"/>
              </a:ext>
            </a:extLst>
          </p:cNvPr>
          <p:cNvSpPr/>
          <p:nvPr/>
        </p:nvSpPr>
        <p:spPr>
          <a:xfrm>
            <a:off x="508000" y="1968500"/>
            <a:ext cx="36830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34BAA6-46EC-4BE0-8F01-8ED7067A2D75}"/>
              </a:ext>
            </a:extLst>
          </p:cNvPr>
          <p:cNvSpPr/>
          <p:nvPr/>
        </p:nvSpPr>
        <p:spPr>
          <a:xfrm>
            <a:off x="508000" y="1968500"/>
            <a:ext cx="50800" cy="13716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49C796-21F7-471A-A0C8-FC49D2C80550}"/>
              </a:ext>
            </a:extLst>
          </p:cNvPr>
          <p:cNvSpPr txBox="1"/>
          <p:nvPr/>
        </p:nvSpPr>
        <p:spPr>
          <a:xfrm>
            <a:off x="685800" y="21209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Tabela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8FA984-51E6-4494-91AB-6BA3554ABD48}"/>
              </a:ext>
            </a:extLst>
          </p:cNvPr>
          <p:cNvSpPr txBox="1"/>
          <p:nvPr/>
        </p:nvSpPr>
        <p:spPr>
          <a:xfrm>
            <a:off x="685800" y="24511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Como planilha com linhas e colunas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9ABD9F2-0B30-4BD1-9800-D9A095215098}"/>
              </a:ext>
            </a:extLst>
          </p:cNvPr>
          <p:cNvSpPr/>
          <p:nvPr/>
        </p:nvSpPr>
        <p:spPr>
          <a:xfrm>
            <a:off x="4445000" y="1968500"/>
            <a:ext cx="36830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44838FF-C2D6-42B3-B7B0-0FAA79204968}"/>
              </a:ext>
            </a:extLst>
          </p:cNvPr>
          <p:cNvSpPr/>
          <p:nvPr/>
        </p:nvSpPr>
        <p:spPr>
          <a:xfrm>
            <a:off x="4445000" y="1968500"/>
            <a:ext cx="50800" cy="13716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55C9FB2-5C7C-4810-997B-701D1E2BCEB5}"/>
              </a:ext>
            </a:extLst>
          </p:cNvPr>
          <p:cNvSpPr txBox="1"/>
          <p:nvPr/>
        </p:nvSpPr>
        <p:spPr>
          <a:xfrm>
            <a:off x="4622800" y="21209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Coluna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1880D8-B970-4F83-924E-008CC7B27E18}"/>
              </a:ext>
            </a:extLst>
          </p:cNvPr>
          <p:cNvSpPr txBox="1"/>
          <p:nvPr/>
        </p:nvSpPr>
        <p:spPr>
          <a:xfrm>
            <a:off x="4622800" y="24511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Tipo de informacao: nome, curso...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AB7CEB0-2B77-4E58-A380-B611E049C513}"/>
              </a:ext>
            </a:extLst>
          </p:cNvPr>
          <p:cNvSpPr/>
          <p:nvPr/>
        </p:nvSpPr>
        <p:spPr>
          <a:xfrm>
            <a:off x="8382000" y="1968500"/>
            <a:ext cx="36830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6A57866-11B4-497C-A5B3-3162621F356A}"/>
              </a:ext>
            </a:extLst>
          </p:cNvPr>
          <p:cNvSpPr/>
          <p:nvPr/>
        </p:nvSpPr>
        <p:spPr>
          <a:xfrm>
            <a:off x="8382000" y="1968500"/>
            <a:ext cx="50800" cy="13716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BDC6DE-B60B-42A7-B9B6-9F2CA685E3A7}"/>
              </a:ext>
            </a:extLst>
          </p:cNvPr>
          <p:cNvSpPr txBox="1"/>
          <p:nvPr/>
        </p:nvSpPr>
        <p:spPr>
          <a:xfrm>
            <a:off x="8559800" y="21209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Registro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E6763EE-C0FA-4580-AC15-B4D6400AF530}"/>
              </a:ext>
            </a:extLst>
          </p:cNvPr>
          <p:cNvSpPr txBox="1"/>
          <p:nvPr/>
        </p:nvSpPr>
        <p:spPr>
          <a:xfrm>
            <a:off x="8559800" y="24511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Cada linha e um aluno, livro...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C1ECD2F-FF68-4855-8C9D-B671E598D3E3}"/>
              </a:ext>
            </a:extLst>
          </p:cNvPr>
          <p:cNvSpPr/>
          <p:nvPr/>
        </p:nvSpPr>
        <p:spPr>
          <a:xfrm>
            <a:off x="508000" y="3467100"/>
            <a:ext cx="36830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58F28FA-2ED1-4021-BDBE-B85A36AA387D}"/>
              </a:ext>
            </a:extLst>
          </p:cNvPr>
          <p:cNvSpPr/>
          <p:nvPr/>
        </p:nvSpPr>
        <p:spPr>
          <a:xfrm>
            <a:off x="508000" y="3467100"/>
            <a:ext cx="50800" cy="13716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BAA6312-9ADA-48C0-9212-C024F874C2E0}"/>
              </a:ext>
            </a:extLst>
          </p:cNvPr>
          <p:cNvSpPr txBox="1"/>
          <p:nvPr/>
        </p:nvSpPr>
        <p:spPr>
          <a:xfrm>
            <a:off x="685800" y="36195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PRIMARY KEY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39E0E51-9CEF-4753-B161-D65B1984EC31}"/>
              </a:ext>
            </a:extLst>
          </p:cNvPr>
          <p:cNvSpPr txBox="1"/>
          <p:nvPr/>
        </p:nvSpPr>
        <p:spPr>
          <a:xfrm>
            <a:off x="685800" y="39497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ID unico de cada registro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DDD3BD9-C29C-488C-9D9A-C291915B2FB2}"/>
              </a:ext>
            </a:extLst>
          </p:cNvPr>
          <p:cNvSpPr/>
          <p:nvPr/>
        </p:nvSpPr>
        <p:spPr>
          <a:xfrm>
            <a:off x="4445000" y="3467100"/>
            <a:ext cx="36830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EC526B4-1D1F-4F9A-922A-4679C9B5DAFE}"/>
              </a:ext>
            </a:extLst>
          </p:cNvPr>
          <p:cNvSpPr/>
          <p:nvPr/>
        </p:nvSpPr>
        <p:spPr>
          <a:xfrm>
            <a:off x="4445000" y="3467100"/>
            <a:ext cx="50800" cy="13716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3525523-4D75-402E-88D6-34FACDAD4DDE}"/>
              </a:ext>
            </a:extLst>
          </p:cNvPr>
          <p:cNvSpPr txBox="1"/>
          <p:nvPr/>
        </p:nvSpPr>
        <p:spPr>
          <a:xfrm>
            <a:off x="4622800" y="36195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FOREIGN KEY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6239F51-245E-4411-A953-62E148D4F6A0}"/>
              </a:ext>
            </a:extLst>
          </p:cNvPr>
          <p:cNvSpPr txBox="1"/>
          <p:nvPr/>
        </p:nvSpPr>
        <p:spPr>
          <a:xfrm>
            <a:off x="4622800" y="39497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Ligacao entre tabelas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BA02A13-79A2-4DD3-82AA-DAA82C371B92}"/>
              </a:ext>
            </a:extLst>
          </p:cNvPr>
          <p:cNvSpPr/>
          <p:nvPr/>
        </p:nvSpPr>
        <p:spPr>
          <a:xfrm>
            <a:off x="8382000" y="3467100"/>
            <a:ext cx="36830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4E91D5F-27CB-4A25-8FA4-C4571FF19F4E}"/>
              </a:ext>
            </a:extLst>
          </p:cNvPr>
          <p:cNvSpPr/>
          <p:nvPr/>
        </p:nvSpPr>
        <p:spPr>
          <a:xfrm>
            <a:off x="8382000" y="3467100"/>
            <a:ext cx="50800" cy="13716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3737268-1D98-48FE-A814-67549658E538}"/>
              </a:ext>
            </a:extLst>
          </p:cNvPr>
          <p:cNvSpPr txBox="1"/>
          <p:nvPr/>
        </p:nvSpPr>
        <p:spPr>
          <a:xfrm>
            <a:off x="8559800" y="36195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NULL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D8791B3-302A-4FD5-A3B8-6FCAF78DD9B9}"/>
              </a:ext>
            </a:extLst>
          </p:cNvPr>
          <p:cNvSpPr txBox="1"/>
          <p:nvPr/>
        </p:nvSpPr>
        <p:spPr>
          <a:xfrm>
            <a:off x="8559800" y="39497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Ausencia de valor</a:t>
            </a:r>
          </a:p>
        </p:txBody>
      </p:sp>
    </p:spTree>
    <p:extLst>
      <p:ext uri="{BB962C8B-B14F-4D97-AF65-F5344CB8AC3E}">
        <p14:creationId xmlns:p14="http://schemas.microsoft.com/office/powerpoint/2010/main" val="355152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5FBCC56-FF96-4423-8AE5-9E32B05007E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7A30D06-6F1C-4BDB-82F4-204433387125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35AFCC-88ED-4FB9-9C3A-3F9F13762473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Estrutura do Banco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F82EE0-76A4-4308-8843-021DC96729A9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4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E2F638-275A-4563-9C41-6E1C666F27C1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As 4 Tabelas do Sistema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7E43D31-1D48-4569-878D-A1037D785DB4}"/>
              </a:ext>
            </a:extLst>
          </p:cNvPr>
          <p:cNvSpPr/>
          <p:nvPr/>
        </p:nvSpPr>
        <p:spPr>
          <a:xfrm>
            <a:off x="508000" y="1422400"/>
            <a:ext cx="5080000" cy="20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0BD61C-5601-41BF-807E-D3D65395D316}"/>
              </a:ext>
            </a:extLst>
          </p:cNvPr>
          <p:cNvSpPr/>
          <p:nvPr/>
        </p:nvSpPr>
        <p:spPr>
          <a:xfrm>
            <a:off x="508000" y="1422400"/>
            <a:ext cx="50800" cy="20320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2411EC6-4121-409E-9CDC-77BE09F1DA8B}"/>
              </a:ext>
            </a:extLst>
          </p:cNvPr>
          <p:cNvSpPr txBox="1"/>
          <p:nvPr/>
        </p:nvSpPr>
        <p:spPr>
          <a:xfrm>
            <a:off x="685800" y="16002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58A6FF"/>
                </a:solidFill>
                <a:latin typeface="Segoe UI" panose="020B0502040204020203" pitchFamily="34" charset="0"/>
              </a:rPr>
              <a:t>ALUNOS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366482-5D13-41E6-8EEE-4F7FD4CD3A6C}"/>
              </a:ext>
            </a:extLst>
          </p:cNvPr>
          <p:cNvSpPr txBox="1"/>
          <p:nvPr/>
        </p:nvSpPr>
        <p:spPr>
          <a:xfrm>
            <a:off x="685800" y="2006600"/>
            <a:ext cx="4800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64788C"/>
                </a:solidFill>
                <a:latin typeface="Segoe UI" panose="020B0502040204020203" pitchFamily="34" charset="0"/>
              </a:rPr>
              <a:t>id_aluno | nome | curso | email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1BF435-1BC5-400B-856B-9E7918CB83AB}"/>
              </a:ext>
            </a:extLst>
          </p:cNvPr>
          <p:cNvSpPr/>
          <p:nvPr/>
        </p:nvSpPr>
        <p:spPr>
          <a:xfrm>
            <a:off x="685800" y="2463800"/>
            <a:ext cx="4673600" cy="12700"/>
          </a:xfrm>
          <a:prstGeom prst="rect">
            <a:avLst/>
          </a:prstGeom>
          <a:solidFill>
            <a:srgbClr val="3036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401F0D2-1AAD-4BED-92DC-4C52E7B35F3F}"/>
              </a:ext>
            </a:extLst>
          </p:cNvPr>
          <p:cNvSpPr txBox="1"/>
          <p:nvPr/>
        </p:nvSpPr>
        <p:spPr>
          <a:xfrm>
            <a:off x="685800" y="25654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Dados dos estudantes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8EAEFE6-D3E6-499C-8C3D-EC7712F4DFD6}"/>
              </a:ext>
            </a:extLst>
          </p:cNvPr>
          <p:cNvSpPr/>
          <p:nvPr/>
        </p:nvSpPr>
        <p:spPr>
          <a:xfrm>
            <a:off x="6350000" y="1422400"/>
            <a:ext cx="5080000" cy="20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DD42EC1-92AB-499E-B5B7-4C72C12D329C}"/>
              </a:ext>
            </a:extLst>
          </p:cNvPr>
          <p:cNvSpPr/>
          <p:nvPr/>
        </p:nvSpPr>
        <p:spPr>
          <a:xfrm>
            <a:off x="6350000" y="1422400"/>
            <a:ext cx="50800" cy="20320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24709D5-36E8-4DD4-92FF-478694A468B2}"/>
              </a:ext>
            </a:extLst>
          </p:cNvPr>
          <p:cNvSpPr txBox="1"/>
          <p:nvPr/>
        </p:nvSpPr>
        <p:spPr>
          <a:xfrm>
            <a:off x="6527800" y="16002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58A6FF"/>
                </a:solidFill>
                <a:latin typeface="Segoe UI" panose="020B0502040204020203" pitchFamily="34" charset="0"/>
              </a:rPr>
              <a:t>LIVROS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6212D85-546B-467F-9D08-7E0BFAB6274B}"/>
              </a:ext>
            </a:extLst>
          </p:cNvPr>
          <p:cNvSpPr txBox="1"/>
          <p:nvPr/>
        </p:nvSpPr>
        <p:spPr>
          <a:xfrm>
            <a:off x="6527800" y="2006600"/>
            <a:ext cx="4800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64788C"/>
                </a:solidFill>
                <a:latin typeface="Segoe UI" panose="020B0502040204020203" pitchFamily="34" charset="0"/>
              </a:rPr>
              <a:t>id_livro | titulo | autor | ano_publicacao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AF3F0C4-C349-4D9C-ACA5-2952CCF10A81}"/>
              </a:ext>
            </a:extLst>
          </p:cNvPr>
          <p:cNvSpPr/>
          <p:nvPr/>
        </p:nvSpPr>
        <p:spPr>
          <a:xfrm>
            <a:off x="6527800" y="2463800"/>
            <a:ext cx="4673600" cy="12700"/>
          </a:xfrm>
          <a:prstGeom prst="rect">
            <a:avLst/>
          </a:prstGeom>
          <a:solidFill>
            <a:srgbClr val="3036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0958A8-B9A1-4BD9-B451-F7226323F1A6}"/>
              </a:ext>
            </a:extLst>
          </p:cNvPr>
          <p:cNvSpPr txBox="1"/>
          <p:nvPr/>
        </p:nvSpPr>
        <p:spPr>
          <a:xfrm>
            <a:off x="6527800" y="25654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Dados bibliograficos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18B23AE-82BC-48DD-A642-D41D263800E3}"/>
              </a:ext>
            </a:extLst>
          </p:cNvPr>
          <p:cNvSpPr/>
          <p:nvPr/>
        </p:nvSpPr>
        <p:spPr>
          <a:xfrm>
            <a:off x="508000" y="4000500"/>
            <a:ext cx="5080000" cy="20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8460589-79FC-4D14-B6C9-9EE8686FB35C}"/>
              </a:ext>
            </a:extLst>
          </p:cNvPr>
          <p:cNvSpPr/>
          <p:nvPr/>
        </p:nvSpPr>
        <p:spPr>
          <a:xfrm>
            <a:off x="508000" y="4000500"/>
            <a:ext cx="50800" cy="20320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B2D5B3-4FE5-48AA-B465-9D195A4FC3CF}"/>
              </a:ext>
            </a:extLst>
          </p:cNvPr>
          <p:cNvSpPr txBox="1"/>
          <p:nvPr/>
        </p:nvSpPr>
        <p:spPr>
          <a:xfrm>
            <a:off x="685800" y="41783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58A6FF"/>
                </a:solidFill>
                <a:latin typeface="Segoe UI" panose="020B0502040204020203" pitchFamily="34" charset="0"/>
              </a:rPr>
              <a:t>EXEMPLARES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576E9E5-BF9E-4F11-937D-D3912953C236}"/>
              </a:ext>
            </a:extLst>
          </p:cNvPr>
          <p:cNvSpPr txBox="1"/>
          <p:nvPr/>
        </p:nvSpPr>
        <p:spPr>
          <a:xfrm>
            <a:off x="685800" y="4584700"/>
            <a:ext cx="4800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64788C"/>
                </a:solidFill>
                <a:latin typeface="Segoe UI" panose="020B0502040204020203" pitchFamily="34" charset="0"/>
              </a:rPr>
              <a:t>id_exemplar | id_livro | numero_exemplar | status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F7972FA-5F16-4A45-A374-379D14FBA422}"/>
              </a:ext>
            </a:extLst>
          </p:cNvPr>
          <p:cNvSpPr/>
          <p:nvPr/>
        </p:nvSpPr>
        <p:spPr>
          <a:xfrm>
            <a:off x="685800" y="5041900"/>
            <a:ext cx="4673600" cy="12700"/>
          </a:xfrm>
          <a:prstGeom prst="rect">
            <a:avLst/>
          </a:prstGeom>
          <a:solidFill>
            <a:srgbClr val="3036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180F5D-513F-4BF8-93EC-0CBC83C3A145}"/>
              </a:ext>
            </a:extLst>
          </p:cNvPr>
          <p:cNvSpPr txBox="1"/>
          <p:nvPr/>
        </p:nvSpPr>
        <p:spPr>
          <a:xfrm>
            <a:off x="685800" y="51435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Copias fisicas dos livros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E3E5D57-3266-4671-A948-DFA560D77075}"/>
              </a:ext>
            </a:extLst>
          </p:cNvPr>
          <p:cNvSpPr/>
          <p:nvPr/>
        </p:nvSpPr>
        <p:spPr>
          <a:xfrm>
            <a:off x="6350000" y="4000500"/>
            <a:ext cx="5080000" cy="203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5D3D308-F728-4AE1-A49E-B5AB3B006CFE}"/>
              </a:ext>
            </a:extLst>
          </p:cNvPr>
          <p:cNvSpPr/>
          <p:nvPr/>
        </p:nvSpPr>
        <p:spPr>
          <a:xfrm>
            <a:off x="6350000" y="4000500"/>
            <a:ext cx="50800" cy="20320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EFC3418-551E-4874-BAC3-C907301D12C4}"/>
              </a:ext>
            </a:extLst>
          </p:cNvPr>
          <p:cNvSpPr txBox="1"/>
          <p:nvPr/>
        </p:nvSpPr>
        <p:spPr>
          <a:xfrm>
            <a:off x="6527800" y="41783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58A6FF"/>
                </a:solidFill>
                <a:latin typeface="Segoe UI" panose="020B0502040204020203" pitchFamily="34" charset="0"/>
              </a:rPr>
              <a:t>EMPRESTIMOS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974820C-D85D-4228-883E-0535B7A2C63E}"/>
              </a:ext>
            </a:extLst>
          </p:cNvPr>
          <p:cNvSpPr txBox="1"/>
          <p:nvPr/>
        </p:nvSpPr>
        <p:spPr>
          <a:xfrm>
            <a:off x="6527800" y="4584700"/>
            <a:ext cx="4800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64788C"/>
                </a:solidFill>
                <a:latin typeface="Segoe UI" panose="020B0502040204020203" pitchFamily="34" charset="0"/>
              </a:rPr>
              <a:t>id_emprestimo | id_aluno | id_exemplar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BC0BD06-B639-4366-8753-53685C12FA3E}"/>
              </a:ext>
            </a:extLst>
          </p:cNvPr>
          <p:cNvSpPr/>
          <p:nvPr/>
        </p:nvSpPr>
        <p:spPr>
          <a:xfrm>
            <a:off x="6527800" y="5041900"/>
            <a:ext cx="4673600" cy="12700"/>
          </a:xfrm>
          <a:prstGeom prst="rect">
            <a:avLst/>
          </a:prstGeom>
          <a:solidFill>
            <a:srgbClr val="3036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31CC195-030F-4BA2-BEF4-B869B607D9AA}"/>
              </a:ext>
            </a:extLst>
          </p:cNvPr>
          <p:cNvSpPr txBox="1"/>
          <p:nvPr/>
        </p:nvSpPr>
        <p:spPr>
          <a:xfrm>
            <a:off x="6527800" y="514350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Registra cada emprestimo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3A0928C0-673E-4378-9127-3967D2AB23C6}"/>
              </a:ext>
            </a:extLst>
          </p:cNvPr>
          <p:cNvSpPr/>
          <p:nvPr/>
        </p:nvSpPr>
        <p:spPr>
          <a:xfrm>
            <a:off x="508000" y="6121400"/>
            <a:ext cx="11176000" cy="558800"/>
          </a:xfrm>
          <a:prstGeom prst="roundRect">
            <a:avLst/>
          </a:prstGeom>
          <a:solidFill>
            <a:srgbClr val="081A10"/>
          </a:solidFill>
          <a:ln>
            <a:solidFill>
              <a:srgbClr val="3FB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87A6D31-7815-47F1-8431-27F68BBC8FCF}"/>
              </a:ext>
            </a:extLst>
          </p:cNvPr>
          <p:cNvSpPr txBox="1"/>
          <p:nvPr/>
        </p:nvSpPr>
        <p:spPr>
          <a:xfrm>
            <a:off x="698500" y="62357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>
                <a:solidFill>
                  <a:srgbClr val="3FB950"/>
                </a:solidFill>
                <a:latin typeface="Segoe UI" panose="020B0502040204020203" pitchFamily="34" charset="0"/>
              </a:rPr>
              <a:t>Um livro pode ter varios exemplares fisicos. O emprestimo conecta um aluno a um exemplar especifico.</a:t>
            </a:r>
          </a:p>
        </p:txBody>
      </p:sp>
    </p:spTree>
    <p:extLst>
      <p:ext uri="{BB962C8B-B14F-4D97-AF65-F5344CB8AC3E}">
        <p14:creationId xmlns:p14="http://schemas.microsoft.com/office/powerpoint/2010/main" val="317521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FF9ECCF-2AB6-46B5-9A6D-14A0A73F65F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FF338B-5F2B-4B1D-8A59-CEFD7DE3A226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4403F5-1D01-4232-A360-13F6EC954586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Modelagem de Dados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5CF72C-E49E-41BB-8BAA-54EA0E9D4D4D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5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864192-7747-4FCD-BA7B-0541D2F659A6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Relacionamento entre as Tabelas (1:N)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3673DD-6E34-4C88-9655-A420C7024336}"/>
              </a:ext>
            </a:extLst>
          </p:cNvPr>
          <p:cNvSpPr txBox="1"/>
          <p:nvPr/>
        </p:nvSpPr>
        <p:spPr>
          <a:xfrm>
            <a:off x="508000" y="1295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1:N significa UM PARA MUITOS: um aluno pode ter varios emprestimos, mas cada emprestimo tem um aluno.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7045C7-482B-4558-85BF-CFF650ABCEF1}"/>
              </a:ext>
            </a:extLst>
          </p:cNvPr>
          <p:cNvSpPr/>
          <p:nvPr/>
        </p:nvSpPr>
        <p:spPr>
          <a:xfrm>
            <a:off x="1270000" y="1727200"/>
            <a:ext cx="3810000" cy="482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602A556-5290-4B61-B701-D80FC052EBB5}"/>
              </a:ext>
            </a:extLst>
          </p:cNvPr>
          <p:cNvSpPr txBox="1"/>
          <p:nvPr/>
        </p:nvSpPr>
        <p:spPr>
          <a:xfrm>
            <a:off x="1270000" y="18288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ALUNOS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83FA78F-324A-47A0-9045-6BD57A3DC1A6}"/>
              </a:ext>
            </a:extLst>
          </p:cNvPr>
          <p:cNvSpPr/>
          <p:nvPr/>
        </p:nvSpPr>
        <p:spPr>
          <a:xfrm>
            <a:off x="3149600" y="2209800"/>
            <a:ext cx="50800" cy="228600"/>
          </a:xfrm>
          <a:prstGeom prst="rect">
            <a:avLst/>
          </a:prstGeom>
          <a:solidFill>
            <a:srgbClr val="8B94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B0C9EF-9D1F-44A6-9E83-70FA1B1AA4CE}"/>
              </a:ext>
            </a:extLst>
          </p:cNvPr>
          <p:cNvSpPr txBox="1"/>
          <p:nvPr/>
        </p:nvSpPr>
        <p:spPr>
          <a:xfrm>
            <a:off x="5461000" y="22225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A657"/>
                </a:solidFill>
                <a:latin typeface="Segoe UI" panose="020B0502040204020203" pitchFamily="34" charset="0"/>
              </a:rPr>
              <a:t>1 aluno : N emprestimos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4A74552-06DC-43CA-888F-E57C8915B4B1}"/>
              </a:ext>
            </a:extLst>
          </p:cNvPr>
          <p:cNvSpPr/>
          <p:nvPr/>
        </p:nvSpPr>
        <p:spPr>
          <a:xfrm>
            <a:off x="1270000" y="2438400"/>
            <a:ext cx="3810000" cy="482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0A242C-1C35-4C3A-AD2C-D0FC930A93D2}"/>
              </a:ext>
            </a:extLst>
          </p:cNvPr>
          <p:cNvSpPr txBox="1"/>
          <p:nvPr/>
        </p:nvSpPr>
        <p:spPr>
          <a:xfrm>
            <a:off x="1270000" y="25400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EMPRESTIMOS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53EFAC1-A8B2-4DD7-92F7-72ADADE06D51}"/>
              </a:ext>
            </a:extLst>
          </p:cNvPr>
          <p:cNvSpPr/>
          <p:nvPr/>
        </p:nvSpPr>
        <p:spPr>
          <a:xfrm>
            <a:off x="3149600" y="2921000"/>
            <a:ext cx="50800" cy="228600"/>
          </a:xfrm>
          <a:prstGeom prst="rect">
            <a:avLst/>
          </a:prstGeom>
          <a:solidFill>
            <a:srgbClr val="8B94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6FC57E-D852-47BA-8E19-5879D22720A1}"/>
              </a:ext>
            </a:extLst>
          </p:cNvPr>
          <p:cNvSpPr txBox="1"/>
          <p:nvPr/>
        </p:nvSpPr>
        <p:spPr>
          <a:xfrm>
            <a:off x="5461000" y="29337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A657"/>
                </a:solidFill>
                <a:latin typeface="Segoe UI" panose="020B0502040204020203" pitchFamily="34" charset="0"/>
              </a:rPr>
              <a:t>N emprestimos : 1 exemplar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AC3A20E-7262-4F35-848F-3621D2913936}"/>
              </a:ext>
            </a:extLst>
          </p:cNvPr>
          <p:cNvSpPr/>
          <p:nvPr/>
        </p:nvSpPr>
        <p:spPr>
          <a:xfrm>
            <a:off x="1270000" y="3149600"/>
            <a:ext cx="3810000" cy="482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67D875D-FD20-4736-9CCB-B7C24CA8D6F5}"/>
              </a:ext>
            </a:extLst>
          </p:cNvPr>
          <p:cNvSpPr txBox="1"/>
          <p:nvPr/>
        </p:nvSpPr>
        <p:spPr>
          <a:xfrm>
            <a:off x="1270000" y="32512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EXEMPLARES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877A69-CA95-4DA3-B5B0-7E3CA812308A}"/>
              </a:ext>
            </a:extLst>
          </p:cNvPr>
          <p:cNvSpPr/>
          <p:nvPr/>
        </p:nvSpPr>
        <p:spPr>
          <a:xfrm>
            <a:off x="3149600" y="3632200"/>
            <a:ext cx="50800" cy="228600"/>
          </a:xfrm>
          <a:prstGeom prst="rect">
            <a:avLst/>
          </a:prstGeom>
          <a:solidFill>
            <a:srgbClr val="8B94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9CE09CE-E134-4BDD-86C7-78C5D9451661}"/>
              </a:ext>
            </a:extLst>
          </p:cNvPr>
          <p:cNvSpPr txBox="1"/>
          <p:nvPr/>
        </p:nvSpPr>
        <p:spPr>
          <a:xfrm>
            <a:off x="5461000" y="36449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FFA657"/>
                </a:solidFill>
                <a:latin typeface="Segoe UI" panose="020B0502040204020203" pitchFamily="34" charset="0"/>
              </a:rPr>
              <a:t>N exemplares : 1 livro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22A9634-DD1A-4828-8DF9-44317428A7D6}"/>
              </a:ext>
            </a:extLst>
          </p:cNvPr>
          <p:cNvSpPr/>
          <p:nvPr/>
        </p:nvSpPr>
        <p:spPr>
          <a:xfrm>
            <a:off x="1270000" y="3860800"/>
            <a:ext cx="3810000" cy="482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BCF6AFF-1716-4AA3-B14C-ED1475C213E1}"/>
              </a:ext>
            </a:extLst>
          </p:cNvPr>
          <p:cNvSpPr txBox="1"/>
          <p:nvPr/>
        </p:nvSpPr>
        <p:spPr>
          <a:xfrm>
            <a:off x="1270000" y="39624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58A6FF"/>
                </a:solidFill>
                <a:latin typeface="Segoe UI" panose="020B0502040204020203" pitchFamily="34" charset="0"/>
              </a:rPr>
              <a:t>LIVROS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B98E64C-7FEA-4DFA-84C7-18F41C60B5C9}"/>
              </a:ext>
            </a:extLst>
          </p:cNvPr>
          <p:cNvSpPr/>
          <p:nvPr/>
        </p:nvSpPr>
        <p:spPr>
          <a:xfrm>
            <a:off x="3149600" y="4343400"/>
            <a:ext cx="50800" cy="228600"/>
          </a:xfrm>
          <a:prstGeom prst="rect">
            <a:avLst/>
          </a:prstGeom>
          <a:solidFill>
            <a:srgbClr val="8B94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31ADBDE-6FA6-4119-84E5-1B6B7717DCD3}"/>
              </a:ext>
            </a:extLst>
          </p:cNvPr>
          <p:cNvSpPr txBox="1"/>
          <p:nvPr/>
        </p:nvSpPr>
        <p:spPr>
          <a:xfrm>
            <a:off x="5461000" y="43561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pt-BR" sz="1200">
              <a:solidFill>
                <a:srgbClr val="FFA657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6E2D745-3700-47EE-A109-076B1DEF7D33}"/>
              </a:ext>
            </a:extLst>
          </p:cNvPr>
          <p:cNvSpPr/>
          <p:nvPr/>
        </p:nvSpPr>
        <p:spPr>
          <a:xfrm>
            <a:off x="5461000" y="1968500"/>
            <a:ext cx="76200" cy="762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B13B4BB-B6F0-483E-AADB-542E839A179C}"/>
              </a:ext>
            </a:extLst>
          </p:cNvPr>
          <p:cNvSpPr txBox="1"/>
          <p:nvPr/>
        </p:nvSpPr>
        <p:spPr>
          <a:xfrm>
            <a:off x="5664200" y="18796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Um aluno pode realizar varios emprestimos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2245A2B-8E7B-4D86-BABF-798CD73E001F}"/>
              </a:ext>
            </a:extLst>
          </p:cNvPr>
          <p:cNvSpPr/>
          <p:nvPr/>
        </p:nvSpPr>
        <p:spPr>
          <a:xfrm>
            <a:off x="5461000" y="2374900"/>
            <a:ext cx="76200" cy="762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97AA96D-1324-4D33-8179-5B6D319391DC}"/>
              </a:ext>
            </a:extLst>
          </p:cNvPr>
          <p:cNvSpPr txBox="1"/>
          <p:nvPr/>
        </p:nvSpPr>
        <p:spPr>
          <a:xfrm>
            <a:off x="5664200" y="22860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Um livro pode possuir varios exemplares fisicos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AB13DC2-05E9-4EC0-84D8-7C3BE6BA8650}"/>
              </a:ext>
            </a:extLst>
          </p:cNvPr>
          <p:cNvSpPr/>
          <p:nvPr/>
        </p:nvSpPr>
        <p:spPr>
          <a:xfrm>
            <a:off x="5461000" y="2781300"/>
            <a:ext cx="76200" cy="762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1501C26-03C5-43B6-9B6A-DCD7CA915CF4}"/>
              </a:ext>
            </a:extLst>
          </p:cNvPr>
          <p:cNvSpPr txBox="1"/>
          <p:nvPr/>
        </p:nvSpPr>
        <p:spPr>
          <a:xfrm>
            <a:off x="5664200" y="26924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Um exemplar pode estar em varios emprestimos ao longo do tempo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18AE42B-192A-4956-B646-05E89EC5FAE4}"/>
              </a:ext>
            </a:extLst>
          </p:cNvPr>
          <p:cNvSpPr/>
          <p:nvPr/>
        </p:nvSpPr>
        <p:spPr>
          <a:xfrm>
            <a:off x="5461000" y="3187700"/>
            <a:ext cx="76200" cy="762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78BD7C6-5D74-47AB-BD1B-36A066025EFA}"/>
              </a:ext>
            </a:extLst>
          </p:cNvPr>
          <p:cNvSpPr txBox="1"/>
          <p:nvPr/>
        </p:nvSpPr>
        <p:spPr>
          <a:xfrm>
            <a:off x="5664200" y="30988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Cada emprestimo pertence a exatamente um aluno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70F02F8-AE45-42B3-BD2C-3F72AA54851E}"/>
              </a:ext>
            </a:extLst>
          </p:cNvPr>
          <p:cNvSpPr/>
          <p:nvPr/>
        </p:nvSpPr>
        <p:spPr>
          <a:xfrm>
            <a:off x="5461000" y="3594100"/>
            <a:ext cx="76200" cy="762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C5FAC05-AD7C-4B12-BB5E-5800009F2910}"/>
              </a:ext>
            </a:extLst>
          </p:cNvPr>
          <p:cNvSpPr txBox="1"/>
          <p:nvPr/>
        </p:nvSpPr>
        <p:spPr>
          <a:xfrm>
            <a:off x="5664200" y="35052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Cada emprestimo pertence a exatamente um exemplar</a:t>
            </a:r>
          </a:p>
        </p:txBody>
      </p:sp>
    </p:spTree>
    <p:extLst>
      <p:ext uri="{BB962C8B-B14F-4D97-AF65-F5344CB8AC3E}">
        <p14:creationId xmlns:p14="http://schemas.microsoft.com/office/powerpoint/2010/main" val="99630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A0521E-EFB7-4669-B37E-C0377D22303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7ED24F-616D-41A9-A9E2-F2CB3AA42454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C5753A-7616-405F-A373-9128602AE10C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DDL - Definicao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B03D6D-2F7D-4EE6-8F42-FCEFE12FA079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6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E49806-6A90-4C8B-AF1F-9D03C14F9BC5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Criando as Tabelas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502A017-0DF4-41A5-BB54-485281BE181C}"/>
              </a:ext>
            </a:extLst>
          </p:cNvPr>
          <p:cNvSpPr/>
          <p:nvPr/>
        </p:nvSpPr>
        <p:spPr>
          <a:xfrm>
            <a:off x="508000" y="1320800"/>
            <a:ext cx="6604000" cy="45720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E1AE23B-0289-41B0-9B8A-E6BFCDE3B8A1}"/>
              </a:ext>
            </a:extLst>
          </p:cNvPr>
          <p:cNvSpPr/>
          <p:nvPr/>
        </p:nvSpPr>
        <p:spPr>
          <a:xfrm>
            <a:off x="508000" y="1320800"/>
            <a:ext cx="6604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7F5AD9-6DB8-4FE0-9141-3DA1836CF755}"/>
              </a:ext>
            </a:extLst>
          </p:cNvPr>
          <p:cNvSpPr txBox="1"/>
          <p:nvPr/>
        </p:nvSpPr>
        <p:spPr>
          <a:xfrm>
            <a:off x="635000" y="14478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PRAGMA foreign_keys = ON;
CREATE TABLE alunos (
    id_aluno  INTEGER PRIMARY KEY AUTOINCREMENT,
    nome      TEXT    NOT NULL,
    curso     TEXT    NOT NULL,
    email     TEXT    NOT NULL
);
CREATE TABLE emprestimos (
    id_emprestimo  INTEGER PRIMARY KEY AUTOINCREMENT,
    id_aluno       INTEGER NOT NULL,
    data_devolucao TEXT,  -- NULL = em aberto
    FOREIGN KEY (id_aluno) REFERENCES alunos(id_aluno)
);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CAD81CE-88AD-468A-9A68-3DFECBA67BD9}"/>
              </a:ext>
            </a:extLst>
          </p:cNvPr>
          <p:cNvSpPr/>
          <p:nvPr/>
        </p:nvSpPr>
        <p:spPr>
          <a:xfrm>
            <a:off x="7366000" y="1320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3794EF-48B4-49FB-B7B2-F0EB046147DB}"/>
              </a:ext>
            </a:extLst>
          </p:cNvPr>
          <p:cNvSpPr txBox="1"/>
          <p:nvPr/>
        </p:nvSpPr>
        <p:spPr>
          <a:xfrm>
            <a:off x="7543800" y="1371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PRAGMA foreign_keys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797DF6B-042F-4345-B646-FBBBA2561258}"/>
              </a:ext>
            </a:extLst>
          </p:cNvPr>
          <p:cNvSpPr txBox="1"/>
          <p:nvPr/>
        </p:nvSpPr>
        <p:spPr>
          <a:xfrm>
            <a:off x="7543800" y="1600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Ativa validacao de chaves estrangeiras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D4B4238-1AF9-4E81-AF86-3C16F3D59EB4}"/>
              </a:ext>
            </a:extLst>
          </p:cNvPr>
          <p:cNvSpPr/>
          <p:nvPr/>
        </p:nvSpPr>
        <p:spPr>
          <a:xfrm>
            <a:off x="7366000" y="1955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0C4FBB4-C1FD-44F2-AFE6-A531BC036025}"/>
              </a:ext>
            </a:extLst>
          </p:cNvPr>
          <p:cNvSpPr txBox="1"/>
          <p:nvPr/>
        </p:nvSpPr>
        <p:spPr>
          <a:xfrm>
            <a:off x="7543800" y="2006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CREATE TABLE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755938E-8249-4406-A341-C9194B1DE602}"/>
              </a:ext>
            </a:extLst>
          </p:cNvPr>
          <p:cNvSpPr txBox="1"/>
          <p:nvPr/>
        </p:nvSpPr>
        <p:spPr>
          <a:xfrm>
            <a:off x="7543800" y="2235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Cria uma nova tabela no banco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EBBDC0F-9D65-4544-A47C-D9A5096D29A7}"/>
              </a:ext>
            </a:extLst>
          </p:cNvPr>
          <p:cNvSpPr/>
          <p:nvPr/>
        </p:nvSpPr>
        <p:spPr>
          <a:xfrm>
            <a:off x="7366000" y="2590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D0A775-D8F4-4C55-ADFB-2D696E3A780A}"/>
              </a:ext>
            </a:extLst>
          </p:cNvPr>
          <p:cNvSpPr txBox="1"/>
          <p:nvPr/>
        </p:nvSpPr>
        <p:spPr>
          <a:xfrm>
            <a:off x="7543800" y="2641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INTEGER / TEXT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383FB6-A243-41F4-985F-D6EE922D3EFA}"/>
              </a:ext>
            </a:extLst>
          </p:cNvPr>
          <p:cNvSpPr txBox="1"/>
          <p:nvPr/>
        </p:nvSpPr>
        <p:spPr>
          <a:xfrm>
            <a:off x="7543800" y="2870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Tipos: numero inteiro e texto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01D9759-8DA1-47E7-987C-C6E0C4B5E17B}"/>
              </a:ext>
            </a:extLst>
          </p:cNvPr>
          <p:cNvSpPr/>
          <p:nvPr/>
        </p:nvSpPr>
        <p:spPr>
          <a:xfrm>
            <a:off x="7366000" y="3225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FC22FF6-DE76-46F7-8834-E86D30B11B49}"/>
              </a:ext>
            </a:extLst>
          </p:cNvPr>
          <p:cNvSpPr txBox="1"/>
          <p:nvPr/>
        </p:nvSpPr>
        <p:spPr>
          <a:xfrm>
            <a:off x="7543800" y="3276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PRIMARY KEY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D3F89E0-6533-451F-BBC8-59AFB09E0253}"/>
              </a:ext>
            </a:extLst>
          </p:cNvPr>
          <p:cNvSpPr txBox="1"/>
          <p:nvPr/>
        </p:nvSpPr>
        <p:spPr>
          <a:xfrm>
            <a:off x="7543800" y="3505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Identificador unico de cada registro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BCD2036-73BD-426D-AE62-1282B9886830}"/>
              </a:ext>
            </a:extLst>
          </p:cNvPr>
          <p:cNvSpPr/>
          <p:nvPr/>
        </p:nvSpPr>
        <p:spPr>
          <a:xfrm>
            <a:off x="7366000" y="3860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7DB4184-8AE8-4AC9-803A-5135695D54AD}"/>
              </a:ext>
            </a:extLst>
          </p:cNvPr>
          <p:cNvSpPr txBox="1"/>
          <p:nvPr/>
        </p:nvSpPr>
        <p:spPr>
          <a:xfrm>
            <a:off x="7543800" y="3911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AUTOINCREMENT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8ADD8BB-81B4-4F57-8F46-7F65FF5E441E}"/>
              </a:ext>
            </a:extLst>
          </p:cNvPr>
          <p:cNvSpPr txBox="1"/>
          <p:nvPr/>
        </p:nvSpPr>
        <p:spPr>
          <a:xfrm>
            <a:off x="7543800" y="4140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ID preenchido automaticamente pelo SQLite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A526E80-7830-4900-8E02-24AFB4F50176}"/>
              </a:ext>
            </a:extLst>
          </p:cNvPr>
          <p:cNvSpPr/>
          <p:nvPr/>
        </p:nvSpPr>
        <p:spPr>
          <a:xfrm>
            <a:off x="7366000" y="4495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D25709E-B1CC-48FA-8F39-9C2D6A01B13C}"/>
              </a:ext>
            </a:extLst>
          </p:cNvPr>
          <p:cNvSpPr txBox="1"/>
          <p:nvPr/>
        </p:nvSpPr>
        <p:spPr>
          <a:xfrm>
            <a:off x="7543800" y="4546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NOT NULL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C0DA6E0-8FAE-462F-869A-F17E109148F6}"/>
              </a:ext>
            </a:extLst>
          </p:cNvPr>
          <p:cNvSpPr txBox="1"/>
          <p:nvPr/>
        </p:nvSpPr>
        <p:spPr>
          <a:xfrm>
            <a:off x="7543800" y="4775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Campo obrigatorio - nao pode ser vazio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C79FABE-CC2C-4942-A317-ED7C93E2FCF0}"/>
              </a:ext>
            </a:extLst>
          </p:cNvPr>
          <p:cNvSpPr/>
          <p:nvPr/>
        </p:nvSpPr>
        <p:spPr>
          <a:xfrm>
            <a:off x="7366000" y="5130800"/>
            <a:ext cx="4572000" cy="584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1AB0F24-5D00-41FE-94AB-80C6800A0EFB}"/>
              </a:ext>
            </a:extLst>
          </p:cNvPr>
          <p:cNvSpPr txBox="1"/>
          <p:nvPr/>
        </p:nvSpPr>
        <p:spPr>
          <a:xfrm>
            <a:off x="7543800" y="5181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FOREIGN KEY / REFERENCES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7B39D7F-E5AC-4D31-9772-7797455891F9}"/>
              </a:ext>
            </a:extLst>
          </p:cNvPr>
          <p:cNvSpPr txBox="1"/>
          <p:nvPr/>
        </p:nvSpPr>
        <p:spPr>
          <a:xfrm>
            <a:off x="7543800" y="5410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Cria ligacao com outra tabela</a:t>
            </a:r>
          </a:p>
        </p:txBody>
      </p:sp>
    </p:spTree>
    <p:extLst>
      <p:ext uri="{BB962C8B-B14F-4D97-AF65-F5344CB8AC3E}">
        <p14:creationId xmlns:p14="http://schemas.microsoft.com/office/powerpoint/2010/main" val="416498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CDBA22B-52C0-4884-8667-C54D2324901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1C8D4C5-C1DB-4CB6-93FB-ED5258C5C47B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26EC0D-96CC-4785-86CA-998F2EF40B8C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DML - Insercao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6B0996-A99B-4AF5-BCBA-08F1BE72E930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7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8170BB-8BD6-45C1-AAEA-EE777D3B5ED0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INSERT INTO - Inserindo os Dados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A427ADB-CBF3-460E-BD30-B13FD15FB8CF}"/>
              </a:ext>
            </a:extLst>
          </p:cNvPr>
          <p:cNvSpPr/>
          <p:nvPr/>
        </p:nvSpPr>
        <p:spPr>
          <a:xfrm>
            <a:off x="508000" y="1320800"/>
            <a:ext cx="6604000" cy="36830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B27670-A5B0-4B4F-9860-B31EDEC83123}"/>
              </a:ext>
            </a:extLst>
          </p:cNvPr>
          <p:cNvSpPr/>
          <p:nvPr/>
        </p:nvSpPr>
        <p:spPr>
          <a:xfrm>
            <a:off x="508000" y="1320800"/>
            <a:ext cx="6604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A4987B-A4C3-4786-8C71-8E356C16B20C}"/>
              </a:ext>
            </a:extLst>
          </p:cNvPr>
          <p:cNvSpPr txBox="1"/>
          <p:nvPr/>
        </p:nvSpPr>
        <p:spPr>
          <a:xfrm>
            <a:off x="635000" y="14478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INSERT INTO alunos (nome, curso, email) VALUES
('Ana Souza', 'Engenharia de Software',
 'ana.souza@universidade.edu.br'),
('Bruno Oliveira', 'Administracao',
 'bruno.oliveira@universidade.edu.br'),
('Carla Santos', 'Ciencia da Computacao',
 'carla.santos@universidade.edu.br'),
('Diego Pereira', 'Engenharia Civil',
 'diego.pereira@universidade.edu.br'),
('Fernanda Lima', 'Direito',
 'fernanda.lima@universidade.edu.br');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A1ACD4-14C0-4B79-B7FE-6A81424B11D6}"/>
              </a:ext>
            </a:extLst>
          </p:cNvPr>
          <p:cNvSpPr txBox="1"/>
          <p:nvPr/>
        </p:nvSpPr>
        <p:spPr>
          <a:xfrm>
            <a:off x="7366000" y="13208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E6EDF3"/>
                </a:solidFill>
                <a:latin typeface="Segoe UI" panose="020B0502040204020203" pitchFamily="34" charset="0"/>
              </a:rPr>
              <a:t>Resultado: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7D260A9-6B4D-42CF-9B09-97FB29F09201}"/>
              </a:ext>
            </a:extLst>
          </p:cNvPr>
          <p:cNvSpPr/>
          <p:nvPr/>
        </p:nvSpPr>
        <p:spPr>
          <a:xfrm>
            <a:off x="7366000" y="1625600"/>
            <a:ext cx="508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3FBF68A-CA7C-4990-B3E8-3BA32E7F7888}"/>
              </a:ext>
            </a:extLst>
          </p:cNvPr>
          <p:cNvSpPr txBox="1"/>
          <p:nvPr/>
        </p:nvSpPr>
        <p:spPr>
          <a:xfrm>
            <a:off x="7416800" y="16510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ID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A632F13-5833-418C-8294-0CAF249FA8EC}"/>
              </a:ext>
            </a:extLst>
          </p:cNvPr>
          <p:cNvSpPr/>
          <p:nvPr/>
        </p:nvSpPr>
        <p:spPr>
          <a:xfrm>
            <a:off x="7874000" y="1625600"/>
            <a:ext cx="2032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20A28D-C99D-4D55-9A5E-CB9667BD9C7B}"/>
              </a:ext>
            </a:extLst>
          </p:cNvPr>
          <p:cNvSpPr txBox="1"/>
          <p:nvPr/>
        </p:nvSpPr>
        <p:spPr>
          <a:xfrm>
            <a:off x="7924800" y="16510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Nome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BA9B84-518C-49A2-847A-2509C94CFBBB}"/>
              </a:ext>
            </a:extLst>
          </p:cNvPr>
          <p:cNvSpPr/>
          <p:nvPr/>
        </p:nvSpPr>
        <p:spPr>
          <a:xfrm>
            <a:off x="9906000" y="1625600"/>
            <a:ext cx="2032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2CA435B-128B-4CA4-9CED-C6D427E1789D}"/>
              </a:ext>
            </a:extLst>
          </p:cNvPr>
          <p:cNvSpPr txBox="1"/>
          <p:nvPr/>
        </p:nvSpPr>
        <p:spPr>
          <a:xfrm>
            <a:off x="9956800" y="16510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Curso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10E86A7-918F-460B-ADDF-B370E5F6FE40}"/>
              </a:ext>
            </a:extLst>
          </p:cNvPr>
          <p:cNvSpPr/>
          <p:nvPr/>
        </p:nvSpPr>
        <p:spPr>
          <a:xfrm>
            <a:off x="7366000" y="1930400"/>
            <a:ext cx="50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347D24-C125-48F5-A4D9-D17754B8BDFB}"/>
              </a:ext>
            </a:extLst>
          </p:cNvPr>
          <p:cNvSpPr txBox="1"/>
          <p:nvPr/>
        </p:nvSpPr>
        <p:spPr>
          <a:xfrm>
            <a:off x="7416800" y="19558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C4E494F-7450-4EF8-B93E-79E71A9F014E}"/>
              </a:ext>
            </a:extLst>
          </p:cNvPr>
          <p:cNvSpPr/>
          <p:nvPr/>
        </p:nvSpPr>
        <p:spPr>
          <a:xfrm>
            <a:off x="7874000" y="19304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9B8479B-1669-4711-B4E0-B6FAD1E2096D}"/>
              </a:ext>
            </a:extLst>
          </p:cNvPr>
          <p:cNvSpPr txBox="1"/>
          <p:nvPr/>
        </p:nvSpPr>
        <p:spPr>
          <a:xfrm>
            <a:off x="7924800" y="19558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Ana Souza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5AC0D76-717B-4E2E-A827-6CF6C5505F48}"/>
              </a:ext>
            </a:extLst>
          </p:cNvPr>
          <p:cNvSpPr/>
          <p:nvPr/>
        </p:nvSpPr>
        <p:spPr>
          <a:xfrm>
            <a:off x="9906000" y="19304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F91E4F9-DF1C-4751-8ACD-1238671D9F5D}"/>
              </a:ext>
            </a:extLst>
          </p:cNvPr>
          <p:cNvSpPr txBox="1"/>
          <p:nvPr/>
        </p:nvSpPr>
        <p:spPr>
          <a:xfrm>
            <a:off x="9956800" y="19558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Eng. Software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3D2C760-5277-4335-B186-86A0ED6CF4ED}"/>
              </a:ext>
            </a:extLst>
          </p:cNvPr>
          <p:cNvSpPr/>
          <p:nvPr/>
        </p:nvSpPr>
        <p:spPr>
          <a:xfrm>
            <a:off x="7366000" y="2209800"/>
            <a:ext cx="50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2358BBE-56BB-4999-9814-1067B722C53C}"/>
              </a:ext>
            </a:extLst>
          </p:cNvPr>
          <p:cNvSpPr txBox="1"/>
          <p:nvPr/>
        </p:nvSpPr>
        <p:spPr>
          <a:xfrm>
            <a:off x="7416800" y="2235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F2FCAB7-2A81-4619-9B40-8F472A04753C}"/>
              </a:ext>
            </a:extLst>
          </p:cNvPr>
          <p:cNvSpPr/>
          <p:nvPr/>
        </p:nvSpPr>
        <p:spPr>
          <a:xfrm>
            <a:off x="7874000" y="22098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96854EB-0675-44BD-B202-D076107C7466}"/>
              </a:ext>
            </a:extLst>
          </p:cNvPr>
          <p:cNvSpPr txBox="1"/>
          <p:nvPr/>
        </p:nvSpPr>
        <p:spPr>
          <a:xfrm>
            <a:off x="7924800" y="22352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Bruno Oliveira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0AB94B7-C313-44E0-93CB-5F27D041F379}"/>
              </a:ext>
            </a:extLst>
          </p:cNvPr>
          <p:cNvSpPr/>
          <p:nvPr/>
        </p:nvSpPr>
        <p:spPr>
          <a:xfrm>
            <a:off x="9906000" y="22098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91E72E7-3068-4F2F-9698-2B2D171C112F}"/>
              </a:ext>
            </a:extLst>
          </p:cNvPr>
          <p:cNvSpPr txBox="1"/>
          <p:nvPr/>
        </p:nvSpPr>
        <p:spPr>
          <a:xfrm>
            <a:off x="9956800" y="22352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Administracao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6A60B9F-DA6B-4F3B-90FE-C65564E5EC24}"/>
              </a:ext>
            </a:extLst>
          </p:cNvPr>
          <p:cNvSpPr/>
          <p:nvPr/>
        </p:nvSpPr>
        <p:spPr>
          <a:xfrm>
            <a:off x="7366000" y="2489200"/>
            <a:ext cx="50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9DB6FC4-59D1-44DF-A5EC-8C02344F4E8B}"/>
              </a:ext>
            </a:extLst>
          </p:cNvPr>
          <p:cNvSpPr txBox="1"/>
          <p:nvPr/>
        </p:nvSpPr>
        <p:spPr>
          <a:xfrm>
            <a:off x="7416800" y="2514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B30C415-21BC-432D-8FED-9CB0FA5002D7}"/>
              </a:ext>
            </a:extLst>
          </p:cNvPr>
          <p:cNvSpPr/>
          <p:nvPr/>
        </p:nvSpPr>
        <p:spPr>
          <a:xfrm>
            <a:off x="7874000" y="24892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EB9F759-D19C-4376-9C55-744647C0E97D}"/>
              </a:ext>
            </a:extLst>
          </p:cNvPr>
          <p:cNvSpPr txBox="1"/>
          <p:nvPr/>
        </p:nvSpPr>
        <p:spPr>
          <a:xfrm>
            <a:off x="7924800" y="25146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Carla Santos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166492A-CEF2-4EB9-95DE-01B61D31C85B}"/>
              </a:ext>
            </a:extLst>
          </p:cNvPr>
          <p:cNvSpPr/>
          <p:nvPr/>
        </p:nvSpPr>
        <p:spPr>
          <a:xfrm>
            <a:off x="9906000" y="24892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3D55EF4-A3DA-4A88-B662-9AA4D9241C5A}"/>
              </a:ext>
            </a:extLst>
          </p:cNvPr>
          <p:cNvSpPr txBox="1"/>
          <p:nvPr/>
        </p:nvSpPr>
        <p:spPr>
          <a:xfrm>
            <a:off x="9956800" y="25146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Ciencia Comp.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63B0567-1D9D-4DF9-BC9D-06B1768C5476}"/>
              </a:ext>
            </a:extLst>
          </p:cNvPr>
          <p:cNvSpPr/>
          <p:nvPr/>
        </p:nvSpPr>
        <p:spPr>
          <a:xfrm>
            <a:off x="7366000" y="2768600"/>
            <a:ext cx="50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C5DB903-8AA9-4023-8898-5D84F8198F4F}"/>
              </a:ext>
            </a:extLst>
          </p:cNvPr>
          <p:cNvSpPr txBox="1"/>
          <p:nvPr/>
        </p:nvSpPr>
        <p:spPr>
          <a:xfrm>
            <a:off x="7416800" y="27940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948CCB6-40CB-4FC6-9CD5-0FD676A896D4}"/>
              </a:ext>
            </a:extLst>
          </p:cNvPr>
          <p:cNvSpPr/>
          <p:nvPr/>
        </p:nvSpPr>
        <p:spPr>
          <a:xfrm>
            <a:off x="7874000" y="27686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21571C9-5935-4BE8-9348-07DBF3F438A8}"/>
              </a:ext>
            </a:extLst>
          </p:cNvPr>
          <p:cNvSpPr txBox="1"/>
          <p:nvPr/>
        </p:nvSpPr>
        <p:spPr>
          <a:xfrm>
            <a:off x="7924800" y="27940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Diego Pereira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BB5C26DB-FC66-4F7F-AD6F-FAF454BB22E5}"/>
              </a:ext>
            </a:extLst>
          </p:cNvPr>
          <p:cNvSpPr/>
          <p:nvPr/>
        </p:nvSpPr>
        <p:spPr>
          <a:xfrm>
            <a:off x="9906000" y="27686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C7DEB39-5CDC-4E2E-9AEF-B1649B0F5725}"/>
              </a:ext>
            </a:extLst>
          </p:cNvPr>
          <p:cNvSpPr txBox="1"/>
          <p:nvPr/>
        </p:nvSpPr>
        <p:spPr>
          <a:xfrm>
            <a:off x="9956800" y="27940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Eng. Civil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79DEE7A-CBE9-4A54-8F51-6BFC68ABC136}"/>
              </a:ext>
            </a:extLst>
          </p:cNvPr>
          <p:cNvSpPr/>
          <p:nvPr/>
        </p:nvSpPr>
        <p:spPr>
          <a:xfrm>
            <a:off x="7366000" y="3048000"/>
            <a:ext cx="50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4E0C309-DDBE-4E53-BC3E-4D4E4890129A}"/>
              </a:ext>
            </a:extLst>
          </p:cNvPr>
          <p:cNvSpPr txBox="1"/>
          <p:nvPr/>
        </p:nvSpPr>
        <p:spPr>
          <a:xfrm>
            <a:off x="7416800" y="3073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D9F7954A-6433-4937-82EC-1512621922E9}"/>
              </a:ext>
            </a:extLst>
          </p:cNvPr>
          <p:cNvSpPr/>
          <p:nvPr/>
        </p:nvSpPr>
        <p:spPr>
          <a:xfrm>
            <a:off x="7874000" y="30480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5B297F7-E060-473B-A980-28121756804D}"/>
              </a:ext>
            </a:extLst>
          </p:cNvPr>
          <p:cNvSpPr txBox="1"/>
          <p:nvPr/>
        </p:nvSpPr>
        <p:spPr>
          <a:xfrm>
            <a:off x="7924800" y="30734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Fernanda Lima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3FA43E9-2E96-461C-9275-7276425C376C}"/>
              </a:ext>
            </a:extLst>
          </p:cNvPr>
          <p:cNvSpPr/>
          <p:nvPr/>
        </p:nvSpPr>
        <p:spPr>
          <a:xfrm>
            <a:off x="9906000" y="3048000"/>
            <a:ext cx="2032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4B0F282-D868-4CAB-B8D6-3DDD935AD078}"/>
              </a:ext>
            </a:extLst>
          </p:cNvPr>
          <p:cNvSpPr txBox="1"/>
          <p:nvPr/>
        </p:nvSpPr>
        <p:spPr>
          <a:xfrm>
            <a:off x="9956800" y="3073400"/>
            <a:ext cx="1930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Direito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4953AB61-ECCF-42E5-AC71-DFB6747DB81C}"/>
              </a:ext>
            </a:extLst>
          </p:cNvPr>
          <p:cNvSpPr/>
          <p:nvPr/>
        </p:nvSpPr>
        <p:spPr>
          <a:xfrm>
            <a:off x="7366000" y="3403600"/>
            <a:ext cx="4572000" cy="1066800"/>
          </a:xfrm>
          <a:prstGeom prst="roundRect">
            <a:avLst/>
          </a:prstGeom>
          <a:solidFill>
            <a:srgbClr val="0A1937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FEA6C96-D6A4-44A5-8F55-6D81506F0C8C}"/>
              </a:ext>
            </a:extLst>
          </p:cNvPr>
          <p:cNvSpPr txBox="1"/>
          <p:nvPr/>
        </p:nvSpPr>
        <p:spPr>
          <a:xfrm>
            <a:off x="7543800" y="3530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58A6FF"/>
                </a:solidFill>
                <a:latin typeface="Segoe UI" panose="020B0502040204020203" pitchFamily="34" charset="0"/>
              </a:rPr>
              <a:t>Partes do INSERT: tabela, colunas, VALUES, parenteses por registro, aspas no texto, virgulas separando, ponto e virgula no final.</a:t>
            </a:r>
          </a:p>
        </p:txBody>
      </p:sp>
    </p:spTree>
    <p:extLst>
      <p:ext uri="{BB962C8B-B14F-4D97-AF65-F5344CB8AC3E}">
        <p14:creationId xmlns:p14="http://schemas.microsoft.com/office/powerpoint/2010/main" val="1544860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9224C-B178-4BF1-9224-B5499722040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C1D8B3D-13CD-42E7-A560-6D41C3F6F8C4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926FA2A-6AB8-47A3-AB05-86917A745014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DML - Consulta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44FEF1-3F43-4A3D-AB55-8F538740721C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8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67CFCD-6673-47F9-9B1E-DB627F1EBD1F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58A6FF"/>
                </a:solidFill>
                <a:latin typeface="Segoe UI" panose="020B0502040204020203" pitchFamily="34" charset="0"/>
              </a:rPr>
              <a:t>SELECT, WHERE e ORDER BY</a:t>
            </a:r>
            <a:endParaRPr lang="pt-BR" sz="2800" b="1">
              <a:solidFill>
                <a:srgbClr val="58A6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B9128C-1E2B-412C-ACA7-04B19503FFCF}"/>
              </a:ext>
            </a:extLst>
          </p:cNvPr>
          <p:cNvSpPr txBox="1"/>
          <p:nvPr/>
        </p:nvSpPr>
        <p:spPr>
          <a:xfrm>
            <a:off x="508000" y="1320800"/>
            <a:ext cx="552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A657"/>
                </a:solidFill>
                <a:latin typeface="Segoe UI" panose="020B0502040204020203" pitchFamily="34" charset="0"/>
              </a:rPr>
              <a:t>Todos os alunos: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B13E80-00F5-46C8-A0EF-D3B302460645}"/>
              </a:ext>
            </a:extLst>
          </p:cNvPr>
          <p:cNvSpPr/>
          <p:nvPr/>
        </p:nvSpPr>
        <p:spPr>
          <a:xfrm>
            <a:off x="508000" y="1549400"/>
            <a:ext cx="5524500" cy="254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A76E38E-9C8C-4483-86F1-25B458A3C51A}"/>
              </a:ext>
            </a:extLst>
          </p:cNvPr>
          <p:cNvSpPr/>
          <p:nvPr/>
        </p:nvSpPr>
        <p:spPr>
          <a:xfrm>
            <a:off x="508000" y="1574800"/>
            <a:ext cx="5524500" cy="6604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7F657E6-00E5-4062-9386-CD0A82F61678}"/>
              </a:ext>
            </a:extLst>
          </p:cNvPr>
          <p:cNvSpPr txBox="1"/>
          <p:nvPr/>
        </p:nvSpPr>
        <p:spPr>
          <a:xfrm>
            <a:off x="609600" y="1651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SELECT * FROM alunos;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05393F-8754-4D67-96DA-8599FD02DE57}"/>
              </a:ext>
            </a:extLst>
          </p:cNvPr>
          <p:cNvSpPr txBox="1"/>
          <p:nvPr/>
        </p:nvSpPr>
        <p:spPr>
          <a:xfrm>
            <a:off x="6477000" y="1320800"/>
            <a:ext cx="552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A657"/>
                </a:solidFill>
                <a:latin typeface="Segoe UI" panose="020B0502040204020203" pitchFamily="34" charset="0"/>
              </a:rPr>
              <a:t>So nome e curso: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9AD0D65-3190-4FED-923F-29B9866A51EF}"/>
              </a:ext>
            </a:extLst>
          </p:cNvPr>
          <p:cNvSpPr/>
          <p:nvPr/>
        </p:nvSpPr>
        <p:spPr>
          <a:xfrm>
            <a:off x="6477000" y="1549400"/>
            <a:ext cx="5524500" cy="254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683AB05-CB15-4302-A8DC-4D3855FEFE11}"/>
              </a:ext>
            </a:extLst>
          </p:cNvPr>
          <p:cNvSpPr/>
          <p:nvPr/>
        </p:nvSpPr>
        <p:spPr>
          <a:xfrm>
            <a:off x="6477000" y="1574800"/>
            <a:ext cx="5524500" cy="6604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A8EB4C6-07D1-49FB-88B6-7A6124D6B222}"/>
              </a:ext>
            </a:extLst>
          </p:cNvPr>
          <p:cNvSpPr txBox="1"/>
          <p:nvPr/>
        </p:nvSpPr>
        <p:spPr>
          <a:xfrm>
            <a:off x="6578600" y="1651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SELECT nome, curso FROM alunos;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8B3FCA0-107E-46B4-948C-98397F326908}"/>
              </a:ext>
            </a:extLst>
          </p:cNvPr>
          <p:cNvSpPr txBox="1"/>
          <p:nvPr/>
        </p:nvSpPr>
        <p:spPr>
          <a:xfrm>
            <a:off x="508000" y="2438400"/>
            <a:ext cx="552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A657"/>
                </a:solidFill>
                <a:latin typeface="Segoe UI" panose="020B0502040204020203" pitchFamily="34" charset="0"/>
              </a:rPr>
              <a:t>Filtrar curso: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2330098-0FA1-449D-9B53-EB2EBD136B33}"/>
              </a:ext>
            </a:extLst>
          </p:cNvPr>
          <p:cNvSpPr/>
          <p:nvPr/>
        </p:nvSpPr>
        <p:spPr>
          <a:xfrm>
            <a:off x="508000" y="2667000"/>
            <a:ext cx="5524500" cy="254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C1E8272-41E1-4497-A909-11471504D8AE}"/>
              </a:ext>
            </a:extLst>
          </p:cNvPr>
          <p:cNvSpPr/>
          <p:nvPr/>
        </p:nvSpPr>
        <p:spPr>
          <a:xfrm>
            <a:off x="508000" y="2692400"/>
            <a:ext cx="5524500" cy="6604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32A8AE7-ED06-4B04-BBD6-8E491D3DFA02}"/>
              </a:ext>
            </a:extLst>
          </p:cNvPr>
          <p:cNvSpPr txBox="1"/>
          <p:nvPr/>
        </p:nvSpPr>
        <p:spPr>
          <a:xfrm>
            <a:off x="609600" y="27686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SELECT * FROM alunos WHERE curso = 'Direito';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91ECD18-49FC-4CC8-83BF-BD7FC3200B76}"/>
              </a:ext>
            </a:extLst>
          </p:cNvPr>
          <p:cNvSpPr txBox="1"/>
          <p:nvPr/>
        </p:nvSpPr>
        <p:spPr>
          <a:xfrm>
            <a:off x="6477000" y="2438400"/>
            <a:ext cx="552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A657"/>
                </a:solidFill>
                <a:latin typeface="Segoe UI" panose="020B0502040204020203" pitchFamily="34" charset="0"/>
              </a:rPr>
              <a:t>Ordem A-Z: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56EA764-9F0B-44DF-BE6E-3E3ADD2CD7AA}"/>
              </a:ext>
            </a:extLst>
          </p:cNvPr>
          <p:cNvSpPr/>
          <p:nvPr/>
        </p:nvSpPr>
        <p:spPr>
          <a:xfrm>
            <a:off x="6477000" y="2667000"/>
            <a:ext cx="5524500" cy="254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8A16A1B-F1AD-4EC8-9BAB-BEBD552C1BDB}"/>
              </a:ext>
            </a:extLst>
          </p:cNvPr>
          <p:cNvSpPr/>
          <p:nvPr/>
        </p:nvSpPr>
        <p:spPr>
          <a:xfrm>
            <a:off x="6477000" y="2692400"/>
            <a:ext cx="5524500" cy="6604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034FC8F-6EE5-4E36-8A0B-11E89BD8F1B9}"/>
              </a:ext>
            </a:extLst>
          </p:cNvPr>
          <p:cNvSpPr txBox="1"/>
          <p:nvPr/>
        </p:nvSpPr>
        <p:spPr>
          <a:xfrm>
            <a:off x="6578600" y="27686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EDF3"/>
                </a:solidFill>
                <a:latin typeface="Segoe UI" panose="020B0502040204020203" pitchFamily="34" charset="0"/>
              </a:rPr>
              <a:t>SELECT * FROM alunos ORDER BY nome ASC;</a:t>
            </a:r>
            <a:endParaRPr lang="pt-BR" sz="1100">
              <a:solidFill>
                <a:srgbClr val="E6EDF3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E1BA2A0-CC8E-48FC-B913-0BFD0ED8ABEB}"/>
              </a:ext>
            </a:extLst>
          </p:cNvPr>
          <p:cNvSpPr txBox="1"/>
          <p:nvPr/>
        </p:nvSpPr>
        <p:spPr>
          <a:xfrm>
            <a:off x="508000" y="3556000"/>
            <a:ext cx="552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 b="1">
                <a:solidFill>
                  <a:srgbClr val="FFA657"/>
                </a:solidFill>
                <a:latin typeface="Segoe UI" panose="020B0502040204020203" pitchFamily="34" charset="0"/>
              </a:rPr>
              <a:t>Mais recente: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F3BF21D-AE83-4E46-A7B6-CD01A12D891A}"/>
              </a:ext>
            </a:extLst>
          </p:cNvPr>
          <p:cNvSpPr/>
          <p:nvPr/>
        </p:nvSpPr>
        <p:spPr>
          <a:xfrm>
            <a:off x="508000" y="3784600"/>
            <a:ext cx="5524500" cy="254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597B440-BF78-46DD-B201-D5D05548D59F}"/>
              </a:ext>
            </a:extLst>
          </p:cNvPr>
          <p:cNvSpPr/>
          <p:nvPr/>
        </p:nvSpPr>
        <p:spPr>
          <a:xfrm>
            <a:off x="508000" y="3810000"/>
            <a:ext cx="5524500" cy="6604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E92439C-F82C-43DF-8A00-7E2DE61FB21C}"/>
              </a:ext>
            </a:extLst>
          </p:cNvPr>
          <p:cNvSpPr txBox="1"/>
          <p:nvPr/>
        </p:nvSpPr>
        <p:spPr>
          <a:xfrm>
            <a:off x="609600" y="38862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EDF3"/>
                </a:solidFill>
                <a:latin typeface="Segoe UI" panose="020B0502040204020203" pitchFamily="34" charset="0"/>
              </a:rPr>
              <a:t>SELECT * FROM livros ORDER BY ano_publicacao DESC;</a:t>
            </a:r>
            <a:endParaRPr lang="pt-BR" sz="1100">
              <a:solidFill>
                <a:srgbClr val="E6EDF3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DF145F6-36A7-4468-93E9-6925E9B37B6C}"/>
              </a:ext>
            </a:extLst>
          </p:cNvPr>
          <p:cNvSpPr/>
          <p:nvPr/>
        </p:nvSpPr>
        <p:spPr>
          <a:xfrm>
            <a:off x="508000" y="5435600"/>
            <a:ext cx="11176000" cy="1041400"/>
          </a:xfrm>
          <a:prstGeom prst="roundRect">
            <a:avLst/>
          </a:prstGeom>
          <a:solidFill>
            <a:srgbClr val="0A1937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7323E23-0B14-4165-AC4E-6778DE7DE72D}"/>
              </a:ext>
            </a:extLst>
          </p:cNvPr>
          <p:cNvSpPr txBox="1"/>
          <p:nvPr/>
        </p:nvSpPr>
        <p:spPr>
          <a:xfrm>
            <a:off x="711200" y="55372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>
                <a:solidFill>
                  <a:srgbClr val="58A6FF"/>
                </a:solidFill>
                <a:latin typeface="Segoe UI" panose="020B0502040204020203" pitchFamily="34" charset="0"/>
              </a:rPr>
              <a:t>SELECT = escolhe colunas | * = todas as colunas | FROM = de qual tabela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2AE2DD3-361F-42F3-B2B6-8F8CEC78D925}"/>
              </a:ext>
            </a:extLst>
          </p:cNvPr>
          <p:cNvSpPr txBox="1"/>
          <p:nvPr/>
        </p:nvSpPr>
        <p:spPr>
          <a:xfrm>
            <a:off x="711200" y="5816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58A6FF"/>
                </a:solidFill>
                <a:latin typeface="Segoe UI" panose="020B0502040204020203" pitchFamily="34" charset="0"/>
              </a:rPr>
              <a:t>WHERE = filtra por condicao | ORDER BY ASC = crescente (A-&gt;Z) | ORDER BY DESC = decrescente (Z-&gt;A)</a:t>
            </a:r>
            <a:endParaRPr lang="pt-BR" sz="1300">
              <a:solidFill>
                <a:srgbClr val="58A6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489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908EEB6-EDFD-4E7A-BA65-F44F2A26049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EB5F458-9A5B-49D3-BF6A-1D8255CCD4DD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D507A5-21A7-42E4-818C-E4C491427EB5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DML - Atualizacao e Exclusao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0A726-43E7-4936-8463-32941284AA7D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9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90DD78-27F3-45AD-AF81-8A6A99DCE4F5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UPDATE e DELETE - Cuidado com o WHERE!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FD499A-2CA8-45AE-9B05-2B5B0A85D62C}"/>
              </a:ext>
            </a:extLst>
          </p:cNvPr>
          <p:cNvSpPr txBox="1"/>
          <p:nvPr/>
        </p:nvSpPr>
        <p:spPr>
          <a:xfrm>
            <a:off x="508000" y="13208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3FB950"/>
                </a:solidFill>
                <a:latin typeface="Segoe UI" panose="020B0502040204020203" pitchFamily="34" charset="0"/>
              </a:rPr>
              <a:t>Correto (com WHERE):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6B8AA9F-7A7D-49A5-A210-17C884AC4662}"/>
              </a:ext>
            </a:extLst>
          </p:cNvPr>
          <p:cNvSpPr/>
          <p:nvPr/>
        </p:nvSpPr>
        <p:spPr>
          <a:xfrm>
            <a:off x="508000" y="1574800"/>
            <a:ext cx="5588000" cy="9144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07EFFF3-A9E4-48C9-A810-63075B578BFD}"/>
              </a:ext>
            </a:extLst>
          </p:cNvPr>
          <p:cNvSpPr/>
          <p:nvPr/>
        </p:nvSpPr>
        <p:spPr>
          <a:xfrm>
            <a:off x="508000" y="1574800"/>
            <a:ext cx="5588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621AAD-E9F2-4296-A0B1-EBE71BF35A58}"/>
              </a:ext>
            </a:extLst>
          </p:cNvPr>
          <p:cNvSpPr txBox="1"/>
          <p:nvPr/>
        </p:nvSpPr>
        <p:spPr>
          <a:xfrm>
            <a:off x="635000" y="17018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EDF3"/>
                </a:solidFill>
                <a:latin typeface="Segoe UI" panose="020B0502040204020203" pitchFamily="34" charset="0"/>
              </a:rPr>
              <a:t>UPDATE exemplares
SET    status = 'Disponivel'
WHERE  id_exemplar = 5;</a:t>
            </a:r>
            <a:endParaRPr lang="pt-BR" sz="1100">
              <a:solidFill>
                <a:srgbClr val="E6EDF3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A484A4-F294-47DC-8A29-DDCF03F0DFBB}"/>
              </a:ext>
            </a:extLst>
          </p:cNvPr>
          <p:cNvSpPr txBox="1"/>
          <p:nvPr/>
        </p:nvSpPr>
        <p:spPr>
          <a:xfrm>
            <a:off x="508000" y="2667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A657"/>
                </a:solidFill>
                <a:latin typeface="Segoe UI" panose="020B0502040204020203" pitchFamily="34" charset="0"/>
              </a:rPr>
              <a:t>PERIGOSO (sem WHERE altera TUDO):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B806C03-C309-4B9C-8912-B3470D9A970A}"/>
              </a:ext>
            </a:extLst>
          </p:cNvPr>
          <p:cNvSpPr/>
          <p:nvPr/>
        </p:nvSpPr>
        <p:spPr>
          <a:xfrm>
            <a:off x="508000" y="2921000"/>
            <a:ext cx="5588000" cy="6858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C327D9D-0E40-42B7-9B8F-EAC878542F79}"/>
              </a:ext>
            </a:extLst>
          </p:cNvPr>
          <p:cNvSpPr/>
          <p:nvPr/>
        </p:nvSpPr>
        <p:spPr>
          <a:xfrm>
            <a:off x="508000" y="2921000"/>
            <a:ext cx="5588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7833761-9982-430B-A7EB-7711007F7AB1}"/>
              </a:ext>
            </a:extLst>
          </p:cNvPr>
          <p:cNvSpPr txBox="1"/>
          <p:nvPr/>
        </p:nvSpPr>
        <p:spPr>
          <a:xfrm>
            <a:off x="635000" y="3048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UPDATE exemplares
SET status = 'Disponivel';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AB447F-A81B-4E54-93B6-775A417AFA02}"/>
              </a:ext>
            </a:extLst>
          </p:cNvPr>
          <p:cNvSpPr txBox="1"/>
          <p:nvPr/>
        </p:nvSpPr>
        <p:spPr>
          <a:xfrm>
            <a:off x="6477000" y="13208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3FB950"/>
                </a:solidFill>
                <a:latin typeface="Segoe UI" panose="020B0502040204020203" pitchFamily="34" charset="0"/>
              </a:rPr>
              <a:t>Correto (com WHERE):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26374DA-4C1F-4DE2-975F-D34FE915F715}"/>
              </a:ext>
            </a:extLst>
          </p:cNvPr>
          <p:cNvSpPr/>
          <p:nvPr/>
        </p:nvSpPr>
        <p:spPr>
          <a:xfrm>
            <a:off x="6477000" y="1574800"/>
            <a:ext cx="5207000" cy="6858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C320FBD-CB03-43BC-918C-427FDDA4E4D4}"/>
              </a:ext>
            </a:extLst>
          </p:cNvPr>
          <p:cNvSpPr/>
          <p:nvPr/>
        </p:nvSpPr>
        <p:spPr>
          <a:xfrm>
            <a:off x="6477000" y="1574800"/>
            <a:ext cx="5207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A222C15-C148-49E0-9345-A3C5305CD4E4}"/>
              </a:ext>
            </a:extLst>
          </p:cNvPr>
          <p:cNvSpPr txBox="1"/>
          <p:nvPr/>
        </p:nvSpPr>
        <p:spPr>
          <a:xfrm>
            <a:off x="6604000" y="17018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EDF3"/>
                </a:solidFill>
                <a:latin typeface="Segoe UI" panose="020B0502040204020203" pitchFamily="34" charset="0"/>
              </a:rPr>
              <a:t>DELETE FROM alunos
WHERE id_aluno = 5;</a:t>
            </a:r>
            <a:endParaRPr lang="pt-BR" sz="1100">
              <a:solidFill>
                <a:srgbClr val="E6EDF3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2B71F88-7CF8-4231-9044-7E09A885EEA6}"/>
              </a:ext>
            </a:extLst>
          </p:cNvPr>
          <p:cNvSpPr/>
          <p:nvPr/>
        </p:nvSpPr>
        <p:spPr>
          <a:xfrm>
            <a:off x="6477000" y="2438400"/>
            <a:ext cx="5207000" cy="1676400"/>
          </a:xfrm>
          <a:prstGeom prst="roundRect">
            <a:avLst/>
          </a:prstGeom>
          <a:solidFill>
            <a:srgbClr val="230808"/>
          </a:solidFill>
          <a:ln>
            <a:solidFill>
              <a:srgbClr val="F85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842FCB1-08E2-4E48-A405-2486BFFFE195}"/>
              </a:ext>
            </a:extLst>
          </p:cNvPr>
          <p:cNvSpPr txBox="1"/>
          <p:nvPr/>
        </p:nvSpPr>
        <p:spPr>
          <a:xfrm>
            <a:off x="6654800" y="25908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F85149"/>
                </a:solidFill>
                <a:latin typeface="Segoe UI" panose="020B0502040204020203" pitchFamily="34" charset="0"/>
              </a:rPr>
              <a:t>PERIGO: DELETE sem WHERE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F4C15FC-D689-4753-A3C0-0290DDECDCEB}"/>
              </a:ext>
            </a:extLst>
          </p:cNvPr>
          <p:cNvSpPr txBox="1"/>
          <p:nvPr/>
        </p:nvSpPr>
        <p:spPr>
          <a:xfrm>
            <a:off x="6654800" y="2870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Remove TODOS os registros!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7796421-9BB3-4D6F-9EDA-45F8F245BB9A}"/>
              </a:ext>
            </a:extLst>
          </p:cNvPr>
          <p:cNvSpPr txBox="1"/>
          <p:nvPr/>
        </p:nvSpPr>
        <p:spPr>
          <a:xfrm>
            <a:off x="6654800" y="31496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Nao ha como desfazer.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0FE116F-10A1-4193-A2A9-5F7A9B11023F}"/>
              </a:ext>
            </a:extLst>
          </p:cNvPr>
          <p:cNvSpPr txBox="1"/>
          <p:nvPr/>
        </p:nvSpPr>
        <p:spPr>
          <a:xfrm>
            <a:off x="6654800" y="3429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Sempre faca SELECT antes.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1CB4E51-D4F2-4833-9BCD-B3731B2D6420}"/>
              </a:ext>
            </a:extLst>
          </p:cNvPr>
          <p:cNvSpPr/>
          <p:nvPr/>
        </p:nvSpPr>
        <p:spPr>
          <a:xfrm>
            <a:off x="508000" y="4394200"/>
            <a:ext cx="11176000" cy="812800"/>
          </a:xfrm>
          <a:prstGeom prst="roundRect">
            <a:avLst/>
          </a:prstGeom>
          <a:solidFill>
            <a:srgbClr val="191205"/>
          </a:solidFill>
          <a:ln>
            <a:solidFill>
              <a:srgbClr val="FFA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70BF6BC-0170-497E-BB73-8F64D22C5220}"/>
              </a:ext>
            </a:extLst>
          </p:cNvPr>
          <p:cNvSpPr txBox="1"/>
          <p:nvPr/>
        </p:nvSpPr>
        <p:spPr>
          <a:xfrm>
            <a:off x="698500" y="45212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 b="1">
                <a:solidFill>
                  <a:srgbClr val="FFA657"/>
                </a:solidFill>
                <a:latin typeface="Segoe UI" panose="020B0502040204020203" pitchFamily="34" charset="0"/>
              </a:rPr>
              <a:t>REGRA DE OURO: Sempre use WHERE no UPDATE e no DELETE!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1B5997A-BB03-4E18-B8AD-6934E1424686}"/>
              </a:ext>
            </a:extLst>
          </p:cNvPr>
          <p:cNvSpPr txBox="1"/>
          <p:nvPr/>
        </p:nvSpPr>
        <p:spPr>
          <a:xfrm>
            <a:off x="698500" y="4800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>
                <a:solidFill>
                  <a:srgbClr val="FFA657"/>
                </a:solidFill>
                <a:latin typeface="Segoe UI" panose="020B0502040204020203" pitchFamily="34" charset="0"/>
              </a:rPr>
              <a:t>Antes de executar, faca um SELECT com o mesmo WHERE para ver o que sera afetado.</a:t>
            </a:r>
          </a:p>
        </p:txBody>
      </p:sp>
    </p:spTree>
    <p:extLst>
      <p:ext uri="{BB962C8B-B14F-4D97-AF65-F5344CB8AC3E}">
        <p14:creationId xmlns:p14="http://schemas.microsoft.com/office/powerpoint/2010/main" val="48074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B167723-14D2-4DF9-9966-C4027C46DA3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8A1F83-7586-4A41-B392-4DAA7C1EC69D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F8C900-D2F0-4148-A898-A8D51F48DF79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Consultas Avancadas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094205-4CBE-4946-808F-F68DE140FFF9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10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821F28-527F-4ECD-B158-2DE7735642F0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JOIN - Juntando Tabelas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9BAC9A-E912-458F-BE02-5F12EE39201B}"/>
              </a:ext>
            </a:extLst>
          </p:cNvPr>
          <p:cNvSpPr txBox="1"/>
          <p:nvPr/>
        </p:nvSpPr>
        <p:spPr>
          <a:xfrm>
            <a:off x="508000" y="1295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O JOIN une dados de tabelas diferentes. ON define qual coluna liga as duas tabelas.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0220D1-5029-4FBF-B1A7-ACCB0CBF7CDD}"/>
              </a:ext>
            </a:extLst>
          </p:cNvPr>
          <p:cNvSpPr/>
          <p:nvPr/>
        </p:nvSpPr>
        <p:spPr>
          <a:xfrm>
            <a:off x="508000" y="1600200"/>
            <a:ext cx="6731000" cy="39370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FFF6DA5-CD4A-4661-A282-190084017E42}"/>
              </a:ext>
            </a:extLst>
          </p:cNvPr>
          <p:cNvSpPr/>
          <p:nvPr/>
        </p:nvSpPr>
        <p:spPr>
          <a:xfrm>
            <a:off x="508000" y="1600200"/>
            <a:ext cx="6731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B167376-89AD-48EE-9340-4CBB25BC145D}"/>
              </a:ext>
            </a:extLst>
          </p:cNvPr>
          <p:cNvSpPr txBox="1"/>
          <p:nvPr/>
        </p:nvSpPr>
        <p:spPr>
          <a:xfrm>
            <a:off x="635000" y="17272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SELECT
    alunos.nome, alunos.curso,
    livros.titulo,
    emprestimos.data_emprestimo,
    emprestimos.data_devolucao
FROM emprestimos
JOIN alunos
    ON emprestimos.id_aluno = alunos.id_aluno
JOIN exemplares
    ON emprestimos.id_exemplar = exemplares.id_exemplar
JOIN livros
    ON exemplares.id_livro = livros.id_livro;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FBF0F33-654D-4D8E-99FB-27354753AE16}"/>
              </a:ext>
            </a:extLst>
          </p:cNvPr>
          <p:cNvSpPr txBox="1"/>
          <p:nvPr/>
        </p:nvSpPr>
        <p:spPr>
          <a:xfrm>
            <a:off x="7620000" y="16002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E6EDF3"/>
                </a:solidFill>
                <a:latin typeface="Segoe UI" panose="020B0502040204020203" pitchFamily="34" charset="0"/>
              </a:rPr>
              <a:t>Caminho das ligacoes: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79EEE9E-B931-4E5D-991E-A256B542E2C6}"/>
              </a:ext>
            </a:extLst>
          </p:cNvPr>
          <p:cNvSpPr/>
          <p:nvPr/>
        </p:nvSpPr>
        <p:spPr>
          <a:xfrm>
            <a:off x="7620000" y="1930400"/>
            <a:ext cx="3937000" cy="4572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5A8A13-4323-4F55-9EC9-B413F0D4F7A3}"/>
              </a:ext>
            </a:extLst>
          </p:cNvPr>
          <p:cNvSpPr txBox="1"/>
          <p:nvPr/>
        </p:nvSpPr>
        <p:spPr>
          <a:xfrm>
            <a:off x="7620000" y="20320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ALUNOS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A6BA26A-EE20-4FDB-A818-8DDF84E4FAB6}"/>
              </a:ext>
            </a:extLst>
          </p:cNvPr>
          <p:cNvSpPr txBox="1"/>
          <p:nvPr/>
        </p:nvSpPr>
        <p:spPr>
          <a:xfrm>
            <a:off x="7620000" y="23876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FFA657"/>
                </a:solidFill>
                <a:latin typeface="Segoe UI" panose="020B0502040204020203" pitchFamily="34" charset="0"/>
              </a:rPr>
              <a:t>v  id_aluno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583D00-FBDC-41E7-86D2-4A2ED9402B37}"/>
              </a:ext>
            </a:extLst>
          </p:cNvPr>
          <p:cNvSpPr/>
          <p:nvPr/>
        </p:nvSpPr>
        <p:spPr>
          <a:xfrm>
            <a:off x="7620000" y="2590800"/>
            <a:ext cx="3937000" cy="4572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69EA616-57F9-421C-AD6B-318C0C1EDC67}"/>
              </a:ext>
            </a:extLst>
          </p:cNvPr>
          <p:cNvSpPr txBox="1"/>
          <p:nvPr/>
        </p:nvSpPr>
        <p:spPr>
          <a:xfrm>
            <a:off x="7620000" y="26924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EMPRESTIMOS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F82B6F1-FC59-46F4-BEFD-6F6607985450}"/>
              </a:ext>
            </a:extLst>
          </p:cNvPr>
          <p:cNvSpPr txBox="1"/>
          <p:nvPr/>
        </p:nvSpPr>
        <p:spPr>
          <a:xfrm>
            <a:off x="7620000" y="30480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FFA657"/>
                </a:solidFill>
                <a:latin typeface="Segoe UI" panose="020B0502040204020203" pitchFamily="34" charset="0"/>
              </a:rPr>
              <a:t>v  id_exemplar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ADB09B5-359F-4D56-9733-12D0ED19D86B}"/>
              </a:ext>
            </a:extLst>
          </p:cNvPr>
          <p:cNvSpPr/>
          <p:nvPr/>
        </p:nvSpPr>
        <p:spPr>
          <a:xfrm>
            <a:off x="7620000" y="3251200"/>
            <a:ext cx="3937000" cy="4572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A18458A-12B3-430A-ADE3-2F89FE5411B3}"/>
              </a:ext>
            </a:extLst>
          </p:cNvPr>
          <p:cNvSpPr txBox="1"/>
          <p:nvPr/>
        </p:nvSpPr>
        <p:spPr>
          <a:xfrm>
            <a:off x="7620000" y="33528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EXEMPLARES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B34665E-5ECD-4543-9F0D-5120B0C0C554}"/>
              </a:ext>
            </a:extLst>
          </p:cNvPr>
          <p:cNvSpPr txBox="1"/>
          <p:nvPr/>
        </p:nvSpPr>
        <p:spPr>
          <a:xfrm>
            <a:off x="7620000" y="37084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FFA657"/>
                </a:solidFill>
                <a:latin typeface="Segoe UI" panose="020B0502040204020203" pitchFamily="34" charset="0"/>
              </a:rPr>
              <a:t>v  id_livro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4E46065-7729-40F1-A35C-1A8B71F563F7}"/>
              </a:ext>
            </a:extLst>
          </p:cNvPr>
          <p:cNvSpPr/>
          <p:nvPr/>
        </p:nvSpPr>
        <p:spPr>
          <a:xfrm>
            <a:off x="7620000" y="3911600"/>
            <a:ext cx="3937000" cy="4572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141DD51-52EB-432F-A9C8-FAF3E1E66FB7}"/>
              </a:ext>
            </a:extLst>
          </p:cNvPr>
          <p:cNvSpPr txBox="1"/>
          <p:nvPr/>
        </p:nvSpPr>
        <p:spPr>
          <a:xfrm>
            <a:off x="7620000" y="40132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LIVROS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82D37FC-CF0C-43C9-8420-036825FAA0D8}"/>
              </a:ext>
            </a:extLst>
          </p:cNvPr>
          <p:cNvSpPr txBox="1"/>
          <p:nvPr/>
        </p:nvSpPr>
        <p:spPr>
          <a:xfrm>
            <a:off x="7620000" y="43688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>
                <a:solidFill>
                  <a:srgbClr val="FFA657"/>
                </a:solidFill>
                <a:latin typeface="Segoe UI" panose="020B0502040204020203" pitchFamily="34" charset="0"/>
              </a:rPr>
              <a:t>v  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6757880-1D8A-46DA-A49E-FE64DB82141F}"/>
              </a:ext>
            </a:extLst>
          </p:cNvPr>
          <p:cNvSpPr/>
          <p:nvPr/>
        </p:nvSpPr>
        <p:spPr>
          <a:xfrm>
            <a:off x="508000" y="5664200"/>
            <a:ext cx="11176000" cy="863600"/>
          </a:xfrm>
          <a:prstGeom prst="roundRect">
            <a:avLst/>
          </a:prstGeom>
          <a:solidFill>
            <a:srgbClr val="0A1937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708D247-4F7B-43E9-A450-7F11FA2F6DFD}"/>
              </a:ext>
            </a:extLst>
          </p:cNvPr>
          <p:cNvSpPr txBox="1"/>
          <p:nvPr/>
        </p:nvSpPr>
        <p:spPr>
          <a:xfrm>
            <a:off x="711200" y="5816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300">
                <a:solidFill>
                  <a:srgbClr val="58A6FF"/>
                </a:solidFill>
                <a:latin typeface="Segoe UI" panose="020B0502040204020203" pitchFamily="34" charset="0"/>
              </a:rPr>
              <a:t>JOIN funciona como uma ponte. Com 3 JOINs vemos numa linha: nome do aluno + titulo do livro + datas - dados de 4 tabelas!</a:t>
            </a:r>
          </a:p>
        </p:txBody>
      </p:sp>
    </p:spTree>
    <p:extLst>
      <p:ext uri="{BB962C8B-B14F-4D97-AF65-F5344CB8AC3E}">
        <p14:creationId xmlns:p14="http://schemas.microsoft.com/office/powerpoint/2010/main" val="1963952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86AC1F-193A-4180-A689-15282F208C7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575F525-B95E-4F2F-8A4C-98D7072EC4A9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4E51-6438-4DD1-8FD8-C75014684D5C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Consultas Avancadas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F202D7-E1F9-4617-BFA2-6CF5F59B220F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11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382F5E-2E23-4953-AD1B-AD7B34C2DE87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IS NULL - Emprestimos em Aberto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06AA7A-ADDF-48FA-A626-B5DDEE3CEB75}"/>
              </a:ext>
            </a:extLst>
          </p:cNvPr>
          <p:cNvSpPr/>
          <p:nvPr/>
        </p:nvSpPr>
        <p:spPr>
          <a:xfrm>
            <a:off x="508000" y="1320800"/>
            <a:ext cx="6731000" cy="35560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AEF2BB9-5C87-4BAE-BB54-3BAE9EE1966E}"/>
              </a:ext>
            </a:extLst>
          </p:cNvPr>
          <p:cNvSpPr/>
          <p:nvPr/>
        </p:nvSpPr>
        <p:spPr>
          <a:xfrm>
            <a:off x="508000" y="1320800"/>
            <a:ext cx="6731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4B88B68-7264-4E44-A03F-A7E14BFC2B02}"/>
              </a:ext>
            </a:extLst>
          </p:cNvPr>
          <p:cNvSpPr txBox="1"/>
          <p:nvPr/>
        </p:nvSpPr>
        <p:spPr>
          <a:xfrm>
            <a:off x="635000" y="14478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SELECT
    alunos.nome,
    livros.titulo,
    emprestimos.data_emprestimo
FROM emprestimos
JOIN alunos
    ON emprestimos.id_aluno = alunos.id_aluno
JOIN exemplares
    ON emprestimos.id_exemplar = exemplares.id_exemplar
JOIN livros
    ON exemplares.id_livro = livros.id_livro
WHERE emprestimos.data_devolucao IS NULL;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01FF274-8320-48A9-84A8-F6226BAE83DB}"/>
              </a:ext>
            </a:extLst>
          </p:cNvPr>
          <p:cNvSpPr/>
          <p:nvPr/>
        </p:nvSpPr>
        <p:spPr>
          <a:xfrm>
            <a:off x="508000" y="5003800"/>
            <a:ext cx="6731000" cy="1016000"/>
          </a:xfrm>
          <a:prstGeom prst="roundRect">
            <a:avLst/>
          </a:prstGeom>
          <a:solidFill>
            <a:srgbClr val="1E1405"/>
          </a:solidFill>
          <a:ln>
            <a:solidFill>
              <a:srgbClr val="FFA6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5BE171-78EA-4FD5-8A08-D937C540B629}"/>
              </a:ext>
            </a:extLst>
          </p:cNvPr>
          <p:cNvSpPr txBox="1"/>
          <p:nvPr/>
        </p:nvSpPr>
        <p:spPr>
          <a:xfrm>
            <a:off x="698500" y="51308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FFA657"/>
                </a:solidFill>
                <a:latin typeface="Segoe UI" panose="020B0502040204020203" pitchFamily="34" charset="0"/>
              </a:rPr>
              <a:t>Por que IS NULL e nao = NULL?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6BE44C1-C957-4A77-8047-75585EB2A354}"/>
              </a:ext>
            </a:extLst>
          </p:cNvPr>
          <p:cNvSpPr txBox="1"/>
          <p:nvPr/>
        </p:nvSpPr>
        <p:spPr>
          <a:xfrm>
            <a:off x="698500" y="54102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NULL nao e um valor, e ausencia de valor.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1F6D5C-BE27-4FBE-A4F7-12A9DF6FD6A0}"/>
              </a:ext>
            </a:extLst>
          </p:cNvPr>
          <p:cNvSpPr txBox="1"/>
          <p:nvPr/>
        </p:nvSpPr>
        <p:spPr>
          <a:xfrm>
            <a:off x="698500" y="56896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Segoe UI" panose="020B0502040204020203" pitchFamily="34" charset="0"/>
              </a:rPr>
              <a:t>= NULL NUNCA funciona no SQL!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F5C770-F37B-4B1E-9065-E47738F22C6C}"/>
              </a:ext>
            </a:extLst>
          </p:cNvPr>
          <p:cNvSpPr txBox="1"/>
          <p:nvPr/>
        </p:nvSpPr>
        <p:spPr>
          <a:xfrm>
            <a:off x="7493000" y="13208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E6EDF3"/>
                </a:solidFill>
                <a:latin typeface="Segoe UI" panose="020B0502040204020203" pitchFamily="34" charset="0"/>
              </a:rPr>
              <a:t>Resultado esperado (2 emprestimos em aberto):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521A610-D9A4-4CE0-867A-14C35C90B9E7}"/>
              </a:ext>
            </a:extLst>
          </p:cNvPr>
          <p:cNvSpPr/>
          <p:nvPr/>
        </p:nvSpPr>
        <p:spPr>
          <a:xfrm>
            <a:off x="7493000" y="1625600"/>
            <a:ext cx="1651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F93E4B8-46C1-4CB5-AE3D-D252A7BBCBA1}"/>
              </a:ext>
            </a:extLst>
          </p:cNvPr>
          <p:cNvSpPr txBox="1"/>
          <p:nvPr/>
        </p:nvSpPr>
        <p:spPr>
          <a:xfrm>
            <a:off x="7543800" y="1651000"/>
            <a:ext cx="154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Nome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8BC680C-9029-424B-BF94-169ECCA70B17}"/>
              </a:ext>
            </a:extLst>
          </p:cNvPr>
          <p:cNvSpPr/>
          <p:nvPr/>
        </p:nvSpPr>
        <p:spPr>
          <a:xfrm>
            <a:off x="9144000" y="1625600"/>
            <a:ext cx="2540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719440-27F9-4BFD-A253-CE18997A0B3B}"/>
              </a:ext>
            </a:extLst>
          </p:cNvPr>
          <p:cNvSpPr txBox="1"/>
          <p:nvPr/>
        </p:nvSpPr>
        <p:spPr>
          <a:xfrm>
            <a:off x="9194800" y="1651000"/>
            <a:ext cx="2438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Titulo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69E0C18-6C01-4A5E-9F41-1D840E89FBB5}"/>
              </a:ext>
            </a:extLst>
          </p:cNvPr>
          <p:cNvSpPr/>
          <p:nvPr/>
        </p:nvSpPr>
        <p:spPr>
          <a:xfrm>
            <a:off x="11684000" y="1625600"/>
            <a:ext cx="1143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E276506-4378-4C4E-AC67-633D5A3D8CFF}"/>
              </a:ext>
            </a:extLst>
          </p:cNvPr>
          <p:cNvSpPr txBox="1"/>
          <p:nvPr/>
        </p:nvSpPr>
        <p:spPr>
          <a:xfrm>
            <a:off x="11734800" y="1651000"/>
            <a:ext cx="1041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Data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10B3839-A47C-46E0-8254-E2F4E4FC2C2F}"/>
              </a:ext>
            </a:extLst>
          </p:cNvPr>
          <p:cNvSpPr/>
          <p:nvPr/>
        </p:nvSpPr>
        <p:spPr>
          <a:xfrm>
            <a:off x="7493000" y="1930400"/>
            <a:ext cx="1651000" cy="3048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0702D13-D208-4A20-8C13-7EAFFD00BA7E}"/>
              </a:ext>
            </a:extLst>
          </p:cNvPr>
          <p:cNvSpPr txBox="1"/>
          <p:nvPr/>
        </p:nvSpPr>
        <p:spPr>
          <a:xfrm>
            <a:off x="7543800" y="1968500"/>
            <a:ext cx="154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Ana Souza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B63E8D6-654A-4700-86FE-A0064407AD35}"/>
              </a:ext>
            </a:extLst>
          </p:cNvPr>
          <p:cNvSpPr/>
          <p:nvPr/>
        </p:nvSpPr>
        <p:spPr>
          <a:xfrm>
            <a:off x="9144000" y="1930400"/>
            <a:ext cx="2540000" cy="3048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EB13AE-ED50-44CC-9DB8-71D04CE6A9CC}"/>
              </a:ext>
            </a:extLst>
          </p:cNvPr>
          <p:cNvSpPr txBox="1"/>
          <p:nvPr/>
        </p:nvSpPr>
        <p:spPr>
          <a:xfrm>
            <a:off x="9194800" y="1968500"/>
            <a:ext cx="2438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Fundamentos BD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56ABA3B-A53F-4AAF-8528-FD5A38FB5BE0}"/>
              </a:ext>
            </a:extLst>
          </p:cNvPr>
          <p:cNvSpPr/>
          <p:nvPr/>
        </p:nvSpPr>
        <p:spPr>
          <a:xfrm>
            <a:off x="11684000" y="1930400"/>
            <a:ext cx="1143000" cy="3048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68FB7C0-B4A5-4C46-8A03-17701902E0A2}"/>
              </a:ext>
            </a:extLst>
          </p:cNvPr>
          <p:cNvSpPr txBox="1"/>
          <p:nvPr/>
        </p:nvSpPr>
        <p:spPr>
          <a:xfrm>
            <a:off x="11734800" y="1968500"/>
            <a:ext cx="1041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2026-09-01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75A811F-73B5-45B8-B140-1A8DB8BE3477}"/>
              </a:ext>
            </a:extLst>
          </p:cNvPr>
          <p:cNvSpPr/>
          <p:nvPr/>
        </p:nvSpPr>
        <p:spPr>
          <a:xfrm>
            <a:off x="7493000" y="2235200"/>
            <a:ext cx="1651000" cy="3048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9AD37B9-97C3-421E-930F-C72FF6C8C2AA}"/>
              </a:ext>
            </a:extLst>
          </p:cNvPr>
          <p:cNvSpPr txBox="1"/>
          <p:nvPr/>
        </p:nvSpPr>
        <p:spPr>
          <a:xfrm>
            <a:off x="7543800" y="2273300"/>
            <a:ext cx="154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Fernanda Lima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BB421F5-EF4F-44E2-9223-A9615A4EFAFE}"/>
              </a:ext>
            </a:extLst>
          </p:cNvPr>
          <p:cNvSpPr/>
          <p:nvPr/>
        </p:nvSpPr>
        <p:spPr>
          <a:xfrm>
            <a:off x="9144000" y="2235200"/>
            <a:ext cx="2540000" cy="3048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BF64C17-ACDD-46AF-9E21-95457E514D6B}"/>
              </a:ext>
            </a:extLst>
          </p:cNvPr>
          <p:cNvSpPr txBox="1"/>
          <p:nvPr/>
        </p:nvSpPr>
        <p:spPr>
          <a:xfrm>
            <a:off x="9194800" y="2273300"/>
            <a:ext cx="2438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Fundamentos BD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1455992-797A-448C-9C29-699684D616D9}"/>
              </a:ext>
            </a:extLst>
          </p:cNvPr>
          <p:cNvSpPr/>
          <p:nvPr/>
        </p:nvSpPr>
        <p:spPr>
          <a:xfrm>
            <a:off x="11684000" y="2235200"/>
            <a:ext cx="1143000" cy="3048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AD2C667-97C9-464E-A7CB-22E709AA57D1}"/>
              </a:ext>
            </a:extLst>
          </p:cNvPr>
          <p:cNvSpPr txBox="1"/>
          <p:nvPr/>
        </p:nvSpPr>
        <p:spPr>
          <a:xfrm>
            <a:off x="11734800" y="2273300"/>
            <a:ext cx="1041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2026-09-20</a:t>
            </a:r>
          </a:p>
        </p:txBody>
      </p:sp>
    </p:spTree>
    <p:extLst>
      <p:ext uri="{BB962C8B-B14F-4D97-AF65-F5344CB8AC3E}">
        <p14:creationId xmlns:p14="http://schemas.microsoft.com/office/powerpoint/2010/main" val="131304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FD52BCA-892A-44E8-9A6D-F71B1A96B66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A126AA-A6A1-44B3-8160-29494D1ECD56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15C3D2-9CB6-43C3-B7E1-593024BBF88D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Agregacao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6F1870-D002-4A92-8DFE-DC6323C62B89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12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E3BF3F-4AB0-4ED6-B183-DFECCFD4BAFD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COUNT e GROUP BY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634201-9A26-47E3-BBDA-0BAF48880FCE}"/>
              </a:ext>
            </a:extLst>
          </p:cNvPr>
          <p:cNvSpPr/>
          <p:nvPr/>
        </p:nvSpPr>
        <p:spPr>
          <a:xfrm>
            <a:off x="508000" y="1320800"/>
            <a:ext cx="6731000" cy="39370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8DC317-3F25-45BF-A336-8994F2D935BA}"/>
              </a:ext>
            </a:extLst>
          </p:cNvPr>
          <p:cNvSpPr/>
          <p:nvPr/>
        </p:nvSpPr>
        <p:spPr>
          <a:xfrm>
            <a:off x="508000" y="1320800"/>
            <a:ext cx="6731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2BBD6B-EB63-494E-A60C-B3C00AF0DD8C}"/>
              </a:ext>
            </a:extLst>
          </p:cNvPr>
          <p:cNvSpPr txBox="1"/>
          <p:nvPr/>
        </p:nvSpPr>
        <p:spPr>
          <a:xfrm>
            <a:off x="635000" y="14478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-- Total de alunos
SELECT COUNT(*) AS total_alunos FROM alunos;
-- Total de livros
SELECT COUNT(*) AS total_livros FROM livros;
-- Emprestimos por aluno
SELECT
    alunos.nome,
    COUNT(emprestimos.id_emprestimo) AS quantidade
FROM alunos
LEFT JOIN emprestimos
    ON alunos.id_aluno = emprestimos.id_aluno
GROUP BY alunos.id_aluno, alunos.nome;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FF9A880-9897-4F70-BB1D-0073EA70AB77}"/>
              </a:ext>
            </a:extLst>
          </p:cNvPr>
          <p:cNvSpPr txBox="1"/>
          <p:nvPr/>
        </p:nvSpPr>
        <p:spPr>
          <a:xfrm>
            <a:off x="7620000" y="1320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E6EDF3"/>
                </a:solidFill>
                <a:latin typeface="Segoe UI" panose="020B0502040204020203" pitchFamily="34" charset="0"/>
              </a:rPr>
              <a:t>Emprestimos por aluno: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DB62148-CAEB-422E-AA60-17585782F4DD}"/>
              </a:ext>
            </a:extLst>
          </p:cNvPr>
          <p:cNvSpPr/>
          <p:nvPr/>
        </p:nvSpPr>
        <p:spPr>
          <a:xfrm>
            <a:off x="7620000" y="1625600"/>
            <a:ext cx="3048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3235244-05FE-4B5C-8063-28F61377E134}"/>
              </a:ext>
            </a:extLst>
          </p:cNvPr>
          <p:cNvSpPr txBox="1"/>
          <p:nvPr/>
        </p:nvSpPr>
        <p:spPr>
          <a:xfrm>
            <a:off x="7670800" y="1651000"/>
            <a:ext cx="294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Nome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478A771-83E6-401E-BED8-CC090FA662B3}"/>
              </a:ext>
            </a:extLst>
          </p:cNvPr>
          <p:cNvSpPr/>
          <p:nvPr/>
        </p:nvSpPr>
        <p:spPr>
          <a:xfrm>
            <a:off x="10668000" y="1625600"/>
            <a:ext cx="889000" cy="304800"/>
          </a:xfrm>
          <a:prstGeom prst="rect">
            <a:avLst/>
          </a:prstGeom>
          <a:solidFill>
            <a:srgbClr val="162846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E09CE2-50F6-45C6-9A4A-0983C2B07B39}"/>
              </a:ext>
            </a:extLst>
          </p:cNvPr>
          <p:cNvSpPr txBox="1"/>
          <p:nvPr/>
        </p:nvSpPr>
        <p:spPr>
          <a:xfrm>
            <a:off x="10718800" y="1651000"/>
            <a:ext cx="78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 b="1">
                <a:solidFill>
                  <a:srgbClr val="58A6FF"/>
                </a:solidFill>
                <a:latin typeface="Segoe UI" panose="020B0502040204020203" pitchFamily="34" charset="0"/>
              </a:rPr>
              <a:t>Qtd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34909B0-6A88-4824-90A0-A86D450A2D25}"/>
              </a:ext>
            </a:extLst>
          </p:cNvPr>
          <p:cNvSpPr/>
          <p:nvPr/>
        </p:nvSpPr>
        <p:spPr>
          <a:xfrm>
            <a:off x="7620000" y="1930400"/>
            <a:ext cx="304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DEF1DDB-49B5-4EE6-8A84-D409C19F13BA}"/>
              </a:ext>
            </a:extLst>
          </p:cNvPr>
          <p:cNvSpPr/>
          <p:nvPr/>
        </p:nvSpPr>
        <p:spPr>
          <a:xfrm>
            <a:off x="10668000" y="1930400"/>
            <a:ext cx="889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E9A2526-00BD-4D64-9605-B5CA1996721D}"/>
              </a:ext>
            </a:extLst>
          </p:cNvPr>
          <p:cNvSpPr txBox="1"/>
          <p:nvPr/>
        </p:nvSpPr>
        <p:spPr>
          <a:xfrm>
            <a:off x="7670800" y="1955800"/>
            <a:ext cx="294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Ana Souza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D21F533-B70B-40EA-89AA-276A117CB538}"/>
              </a:ext>
            </a:extLst>
          </p:cNvPr>
          <p:cNvSpPr txBox="1"/>
          <p:nvPr/>
        </p:nvSpPr>
        <p:spPr>
          <a:xfrm>
            <a:off x="10668000" y="19558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3FB950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1BDC043-AF22-494A-8508-15CE0F56DFC3}"/>
              </a:ext>
            </a:extLst>
          </p:cNvPr>
          <p:cNvSpPr/>
          <p:nvPr/>
        </p:nvSpPr>
        <p:spPr>
          <a:xfrm>
            <a:off x="7620000" y="2209800"/>
            <a:ext cx="304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2C538D9-E77E-4A9B-A764-90957E689EE5}"/>
              </a:ext>
            </a:extLst>
          </p:cNvPr>
          <p:cNvSpPr/>
          <p:nvPr/>
        </p:nvSpPr>
        <p:spPr>
          <a:xfrm>
            <a:off x="10668000" y="2209800"/>
            <a:ext cx="889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FE61723-3DD3-4522-B4FC-D210B095038A}"/>
              </a:ext>
            </a:extLst>
          </p:cNvPr>
          <p:cNvSpPr txBox="1"/>
          <p:nvPr/>
        </p:nvSpPr>
        <p:spPr>
          <a:xfrm>
            <a:off x="7670800" y="2235200"/>
            <a:ext cx="294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Bruno Oliveira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550CE25-EA93-4E92-82CA-01DD61A06A4E}"/>
              </a:ext>
            </a:extLst>
          </p:cNvPr>
          <p:cNvSpPr txBox="1"/>
          <p:nvPr/>
        </p:nvSpPr>
        <p:spPr>
          <a:xfrm>
            <a:off x="10668000" y="22352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3FB950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7AACAF0-BD4A-4301-B69B-A53D7B1A727A}"/>
              </a:ext>
            </a:extLst>
          </p:cNvPr>
          <p:cNvSpPr/>
          <p:nvPr/>
        </p:nvSpPr>
        <p:spPr>
          <a:xfrm>
            <a:off x="7620000" y="2489200"/>
            <a:ext cx="304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982C087-E08E-48B6-9EDA-72E004433AEC}"/>
              </a:ext>
            </a:extLst>
          </p:cNvPr>
          <p:cNvSpPr/>
          <p:nvPr/>
        </p:nvSpPr>
        <p:spPr>
          <a:xfrm>
            <a:off x="10668000" y="2489200"/>
            <a:ext cx="889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F1BFF5D-56DF-4FAB-AFF4-1114EAD8AAB0}"/>
              </a:ext>
            </a:extLst>
          </p:cNvPr>
          <p:cNvSpPr txBox="1"/>
          <p:nvPr/>
        </p:nvSpPr>
        <p:spPr>
          <a:xfrm>
            <a:off x="7670800" y="2514600"/>
            <a:ext cx="294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Carla Santos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3265D7F-7844-4DCF-8B95-B552911D2114}"/>
              </a:ext>
            </a:extLst>
          </p:cNvPr>
          <p:cNvSpPr txBox="1"/>
          <p:nvPr/>
        </p:nvSpPr>
        <p:spPr>
          <a:xfrm>
            <a:off x="10668000" y="25146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3FB950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E92BF47-74FE-4F46-ABCF-F3D0FAB5EECF}"/>
              </a:ext>
            </a:extLst>
          </p:cNvPr>
          <p:cNvSpPr/>
          <p:nvPr/>
        </p:nvSpPr>
        <p:spPr>
          <a:xfrm>
            <a:off x="7620000" y="2768600"/>
            <a:ext cx="304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E19DCC1-0BE7-428B-8D08-66ACBAAF8565}"/>
              </a:ext>
            </a:extLst>
          </p:cNvPr>
          <p:cNvSpPr/>
          <p:nvPr/>
        </p:nvSpPr>
        <p:spPr>
          <a:xfrm>
            <a:off x="10668000" y="2768600"/>
            <a:ext cx="889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B6F3024-72F1-4F1C-A84D-DDA4DADB23E2}"/>
              </a:ext>
            </a:extLst>
          </p:cNvPr>
          <p:cNvSpPr txBox="1"/>
          <p:nvPr/>
        </p:nvSpPr>
        <p:spPr>
          <a:xfrm>
            <a:off x="7670800" y="2794000"/>
            <a:ext cx="294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Diego Pereira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C68C2BC-C375-419F-9B2C-DB8325EFB125}"/>
              </a:ext>
            </a:extLst>
          </p:cNvPr>
          <p:cNvSpPr txBox="1"/>
          <p:nvPr/>
        </p:nvSpPr>
        <p:spPr>
          <a:xfrm>
            <a:off x="10668000" y="27940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3FB950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2C23D8B-8957-40BD-9481-939D90E5B35C}"/>
              </a:ext>
            </a:extLst>
          </p:cNvPr>
          <p:cNvSpPr/>
          <p:nvPr/>
        </p:nvSpPr>
        <p:spPr>
          <a:xfrm>
            <a:off x="7620000" y="3048000"/>
            <a:ext cx="3048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23EDE65-B79D-40C1-A449-C1A508C1E2E0}"/>
              </a:ext>
            </a:extLst>
          </p:cNvPr>
          <p:cNvSpPr/>
          <p:nvPr/>
        </p:nvSpPr>
        <p:spPr>
          <a:xfrm>
            <a:off x="10668000" y="3048000"/>
            <a:ext cx="889000" cy="279400"/>
          </a:xfrm>
          <a:prstGeom prst="rect">
            <a:avLst/>
          </a:prstGeom>
          <a:solidFill>
            <a:srgbClr val="141A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764A5B9-BAE1-4D4F-BF57-8AE2BB3F5848}"/>
              </a:ext>
            </a:extLst>
          </p:cNvPr>
          <p:cNvSpPr txBox="1"/>
          <p:nvPr/>
        </p:nvSpPr>
        <p:spPr>
          <a:xfrm>
            <a:off x="7670800" y="3073400"/>
            <a:ext cx="294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Fernanda Lima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3916E17-123B-46CE-9715-FEE59399D22B}"/>
              </a:ext>
            </a:extLst>
          </p:cNvPr>
          <p:cNvSpPr txBox="1"/>
          <p:nvPr/>
        </p:nvSpPr>
        <p:spPr>
          <a:xfrm>
            <a:off x="10668000" y="3073400"/>
            <a:ext cx="88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3FB950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11190F37-DEC9-4A11-AD74-5E340287A08F}"/>
              </a:ext>
            </a:extLst>
          </p:cNvPr>
          <p:cNvSpPr/>
          <p:nvPr/>
        </p:nvSpPr>
        <p:spPr>
          <a:xfrm>
            <a:off x="7620000" y="3429000"/>
            <a:ext cx="3937000" cy="787400"/>
          </a:xfrm>
          <a:prstGeom prst="roundRect">
            <a:avLst/>
          </a:prstGeom>
          <a:solidFill>
            <a:srgbClr val="081A10"/>
          </a:solidFill>
          <a:ln>
            <a:solidFill>
              <a:srgbClr val="3FB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9D30BC7-506A-4999-B81E-85F5F1ED406B}"/>
              </a:ext>
            </a:extLst>
          </p:cNvPr>
          <p:cNvSpPr txBox="1"/>
          <p:nvPr/>
        </p:nvSpPr>
        <p:spPr>
          <a:xfrm>
            <a:off x="7772400" y="3556000"/>
            <a:ext cx="368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3FB950"/>
                </a:solidFill>
                <a:latin typeface="Segoe UI" panose="020B0502040204020203" pitchFamily="34" charset="0"/>
              </a:rPr>
              <a:t>LEFT JOIN inclui alunos sem emprestimos (0). JOIN normal os excluiria!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7D23DF5-4454-4184-97A1-B9EF261A814D}"/>
              </a:ext>
            </a:extLst>
          </p:cNvPr>
          <p:cNvSpPr/>
          <p:nvPr/>
        </p:nvSpPr>
        <p:spPr>
          <a:xfrm>
            <a:off x="7620000" y="4368800"/>
            <a:ext cx="3937000" cy="889000"/>
          </a:xfrm>
          <a:prstGeom prst="roundRect">
            <a:avLst/>
          </a:prstGeom>
          <a:solidFill>
            <a:srgbClr val="0A1937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36AAB92-BD5B-496C-A3AE-D483B1AED7A9}"/>
              </a:ext>
            </a:extLst>
          </p:cNvPr>
          <p:cNvSpPr txBox="1"/>
          <p:nvPr/>
        </p:nvSpPr>
        <p:spPr>
          <a:xfrm>
            <a:off x="7772400" y="4495800"/>
            <a:ext cx="368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58A6FF"/>
                </a:solidFill>
                <a:latin typeface="Segoe UI" panose="020B0502040204020203" pitchFamily="34" charset="0"/>
              </a:rPr>
              <a:t>GROUP BY agrupa por aluno para COUNT calcular separadamente para cada um.</a:t>
            </a:r>
          </a:p>
        </p:txBody>
      </p:sp>
    </p:spTree>
    <p:extLst>
      <p:ext uri="{BB962C8B-B14F-4D97-AF65-F5344CB8AC3E}">
        <p14:creationId xmlns:p14="http://schemas.microsoft.com/office/powerpoint/2010/main" val="1638256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0B2CC70-673C-481D-86A0-15FEC96F00B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772A04C-D33C-4648-8F76-AC517534405D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EF8E5C2-D528-45ED-84B4-E29866F7E970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Logica Condicional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92FC82-F7A2-4E06-8FEA-040A05220149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13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93FDB0-DD88-4BD1-A1FB-67BE3CFA2776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CASE - Condicoes dentro do SQL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D1000E-BB2D-45FD-A6A2-C1982AA3FF98}"/>
              </a:ext>
            </a:extLst>
          </p:cNvPr>
          <p:cNvSpPr/>
          <p:nvPr/>
        </p:nvSpPr>
        <p:spPr>
          <a:xfrm>
            <a:off x="508000" y="1320800"/>
            <a:ext cx="6731000" cy="4318000"/>
          </a:xfrm>
          <a:prstGeom prst="rect">
            <a:avLst/>
          </a:prstGeom>
          <a:solidFill>
            <a:srgbClr val="0E1620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EA692E-F0EF-49F7-80EF-01583E482B87}"/>
              </a:ext>
            </a:extLst>
          </p:cNvPr>
          <p:cNvSpPr/>
          <p:nvPr/>
        </p:nvSpPr>
        <p:spPr>
          <a:xfrm>
            <a:off x="508000" y="1320800"/>
            <a:ext cx="6731000" cy="381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53A4F0-0B87-4BE9-AD8E-7FABFF572F1E}"/>
              </a:ext>
            </a:extLst>
          </p:cNvPr>
          <p:cNvSpPr txBox="1"/>
          <p:nvPr/>
        </p:nvSpPr>
        <p:spPr>
          <a:xfrm>
            <a:off x="635000" y="1447800"/>
            <a:ext cx="647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SELECT
    alunos.nome, alunos.curso,
    livros.titulo,
    exemplares.numero_exemplar,
    emprestimos.data_emprestimo,
    CASE
        WHEN emprestimos.data_devolucao IS NULL
            THEN 'Em aberto'
        ELSE 'Devolvido'
    END AS situacao
FROM emprestimos
JOIN alunos ON emprestimos.id_aluno = alunos.id_aluno
JOIN exemplares ON emprestimos.id_exemplar = exemplares.id_exemplar
JOIN livros ON exemplares.id_livro = livros.id_livro;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C1201D-C53F-4B57-86B8-236D3C1F1991}"/>
              </a:ext>
            </a:extLst>
          </p:cNvPr>
          <p:cNvSpPr/>
          <p:nvPr/>
        </p:nvSpPr>
        <p:spPr>
          <a:xfrm>
            <a:off x="7493000" y="1320800"/>
            <a:ext cx="4445000" cy="55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0D45B30-3B67-41E6-B37A-97E8E0A4843B}"/>
              </a:ext>
            </a:extLst>
          </p:cNvPr>
          <p:cNvSpPr txBox="1"/>
          <p:nvPr/>
        </p:nvSpPr>
        <p:spPr>
          <a:xfrm>
            <a:off x="7670800" y="1371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D2A8FF"/>
                </a:solidFill>
                <a:latin typeface="Segoe UI" panose="020B0502040204020203" pitchFamily="34" charset="0"/>
              </a:rPr>
              <a:t>CASE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C8ACF8-A4A1-42C5-B53E-40AD9260EDBB}"/>
              </a:ext>
            </a:extLst>
          </p:cNvPr>
          <p:cNvSpPr txBox="1"/>
          <p:nvPr/>
        </p:nvSpPr>
        <p:spPr>
          <a:xfrm>
            <a:off x="7670800" y="16002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Abre o bloco de condicoes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868EDB1-69F9-4E56-A97D-3D266248CD28}"/>
              </a:ext>
            </a:extLst>
          </p:cNvPr>
          <p:cNvSpPr/>
          <p:nvPr/>
        </p:nvSpPr>
        <p:spPr>
          <a:xfrm>
            <a:off x="7493000" y="1930400"/>
            <a:ext cx="4445000" cy="55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90AFA82-F06E-4CC7-A75C-79B19EEA80A7}"/>
              </a:ext>
            </a:extLst>
          </p:cNvPr>
          <p:cNvSpPr txBox="1"/>
          <p:nvPr/>
        </p:nvSpPr>
        <p:spPr>
          <a:xfrm>
            <a:off x="7670800" y="19812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D2A8FF"/>
                </a:solidFill>
                <a:latin typeface="Segoe UI" panose="020B0502040204020203" pitchFamily="34" charset="0"/>
              </a:rPr>
              <a:t>WHEN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D0CA7C-3D89-4785-BF94-FFC18069E305}"/>
              </a:ext>
            </a:extLst>
          </p:cNvPr>
          <p:cNvSpPr txBox="1"/>
          <p:nvPr/>
        </p:nvSpPr>
        <p:spPr>
          <a:xfrm>
            <a:off x="7670800" y="2209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Condicao a ser testada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0B8AF1-B829-4616-ACCC-C9D544F19E0B}"/>
              </a:ext>
            </a:extLst>
          </p:cNvPr>
          <p:cNvSpPr/>
          <p:nvPr/>
        </p:nvSpPr>
        <p:spPr>
          <a:xfrm>
            <a:off x="7493000" y="2540000"/>
            <a:ext cx="4445000" cy="55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D4723C1-64DF-4483-8FF0-332F540E845A}"/>
              </a:ext>
            </a:extLst>
          </p:cNvPr>
          <p:cNvSpPr txBox="1"/>
          <p:nvPr/>
        </p:nvSpPr>
        <p:spPr>
          <a:xfrm>
            <a:off x="7670800" y="25908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D2A8FF"/>
                </a:solidFill>
                <a:latin typeface="Segoe UI" panose="020B0502040204020203" pitchFamily="34" charset="0"/>
              </a:rPr>
              <a:t>THEN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F57321C-7C86-4591-AF56-DE3D241AEE3D}"/>
              </a:ext>
            </a:extLst>
          </p:cNvPr>
          <p:cNvSpPr txBox="1"/>
          <p:nvPr/>
        </p:nvSpPr>
        <p:spPr>
          <a:xfrm>
            <a:off x="7670800" y="28194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Valor se WHEN for verdadeiro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49D14B1-5AEC-4CB9-9752-FE3831783C52}"/>
              </a:ext>
            </a:extLst>
          </p:cNvPr>
          <p:cNvSpPr/>
          <p:nvPr/>
        </p:nvSpPr>
        <p:spPr>
          <a:xfrm>
            <a:off x="7493000" y="3149600"/>
            <a:ext cx="4445000" cy="55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622600-E88F-4EE3-9224-44954C157CE9}"/>
              </a:ext>
            </a:extLst>
          </p:cNvPr>
          <p:cNvSpPr txBox="1"/>
          <p:nvPr/>
        </p:nvSpPr>
        <p:spPr>
          <a:xfrm>
            <a:off x="7670800" y="32004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D2A8FF"/>
                </a:solidFill>
                <a:latin typeface="Segoe UI" panose="020B0502040204020203" pitchFamily="34" charset="0"/>
              </a:rPr>
              <a:t>ELSE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E7263F2-AB0F-44F2-A4C2-1DE52CBF6E1E}"/>
              </a:ext>
            </a:extLst>
          </p:cNvPr>
          <p:cNvSpPr txBox="1"/>
          <p:nvPr/>
        </p:nvSpPr>
        <p:spPr>
          <a:xfrm>
            <a:off x="7670800" y="34290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Valor se nenhum WHEN funcionar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C16926A-65EB-4A7B-847C-C76E8FF7DD4E}"/>
              </a:ext>
            </a:extLst>
          </p:cNvPr>
          <p:cNvSpPr/>
          <p:nvPr/>
        </p:nvSpPr>
        <p:spPr>
          <a:xfrm>
            <a:off x="7493000" y="3759200"/>
            <a:ext cx="4445000" cy="55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43AB20B-EC6C-4025-8537-AE439E46E4CD}"/>
              </a:ext>
            </a:extLst>
          </p:cNvPr>
          <p:cNvSpPr txBox="1"/>
          <p:nvPr/>
        </p:nvSpPr>
        <p:spPr>
          <a:xfrm>
            <a:off x="7670800" y="3810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D2A8FF"/>
                </a:solidFill>
                <a:latin typeface="Segoe UI" panose="020B0502040204020203" pitchFamily="34" charset="0"/>
              </a:rPr>
              <a:t>END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9E107E-44BA-4E28-9136-D710DD0402BA}"/>
              </a:ext>
            </a:extLst>
          </p:cNvPr>
          <p:cNvSpPr txBox="1"/>
          <p:nvPr/>
        </p:nvSpPr>
        <p:spPr>
          <a:xfrm>
            <a:off x="7670800" y="40386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Fecha o bloco CASE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2A64474F-7426-44EE-BD2D-A6D346B0E8D6}"/>
              </a:ext>
            </a:extLst>
          </p:cNvPr>
          <p:cNvSpPr/>
          <p:nvPr/>
        </p:nvSpPr>
        <p:spPr>
          <a:xfrm>
            <a:off x="7493000" y="4368800"/>
            <a:ext cx="4445000" cy="55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0BF8E4B-CF2C-4E38-BF4D-E8B03F602010}"/>
              </a:ext>
            </a:extLst>
          </p:cNvPr>
          <p:cNvSpPr txBox="1"/>
          <p:nvPr/>
        </p:nvSpPr>
        <p:spPr>
          <a:xfrm>
            <a:off x="7670800" y="4419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 b="1">
                <a:solidFill>
                  <a:srgbClr val="D2A8FF"/>
                </a:solidFill>
                <a:latin typeface="Segoe UI" panose="020B0502040204020203" pitchFamily="34" charset="0"/>
              </a:rPr>
              <a:t>AS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CB657F-9558-496A-94A8-1A50BBA48257}"/>
              </a:ext>
            </a:extLst>
          </p:cNvPr>
          <p:cNvSpPr txBox="1"/>
          <p:nvPr/>
        </p:nvSpPr>
        <p:spPr>
          <a:xfrm>
            <a:off x="7670800" y="46482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Da nome a coluna no resultado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5A6DC1F-534B-47AF-B3C3-6C6DAFB55988}"/>
              </a:ext>
            </a:extLst>
          </p:cNvPr>
          <p:cNvSpPr/>
          <p:nvPr/>
        </p:nvSpPr>
        <p:spPr>
          <a:xfrm>
            <a:off x="7493000" y="5029200"/>
            <a:ext cx="4445000" cy="787400"/>
          </a:xfrm>
          <a:prstGeom prst="roundRect">
            <a:avLst/>
          </a:prstGeom>
          <a:solidFill>
            <a:srgbClr val="121A32"/>
          </a:solidFill>
          <a:ln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041DBD0-4ED2-43DB-AB7B-195DD7D64120}"/>
              </a:ext>
            </a:extLst>
          </p:cNvPr>
          <p:cNvSpPr txBox="1"/>
          <p:nvPr/>
        </p:nvSpPr>
        <p:spPr>
          <a:xfrm>
            <a:off x="7670800" y="5130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Em linguagem simples: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62914FC-D606-45EE-8703-3A5258093CEB}"/>
              </a:ext>
            </a:extLst>
          </p:cNvPr>
          <p:cNvSpPr txBox="1"/>
          <p:nvPr/>
        </p:nvSpPr>
        <p:spPr>
          <a:xfrm>
            <a:off x="7670800" y="53594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Se data_devolucao for NULL: 'Em aberto'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416D95E-CA3A-4E6F-9E8B-C1A21E9674F5}"/>
              </a:ext>
            </a:extLst>
          </p:cNvPr>
          <p:cNvSpPr txBox="1"/>
          <p:nvPr/>
        </p:nvSpPr>
        <p:spPr>
          <a:xfrm>
            <a:off x="7670800" y="55880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E6EDF3"/>
                </a:solidFill>
                <a:latin typeface="Segoe UI" panose="020B0502040204020203" pitchFamily="34" charset="0"/>
              </a:rPr>
              <a:t>Caso contrario: 'Devolvido'</a:t>
            </a:r>
          </a:p>
        </p:txBody>
      </p:sp>
    </p:spTree>
    <p:extLst>
      <p:ext uri="{BB962C8B-B14F-4D97-AF65-F5344CB8AC3E}">
        <p14:creationId xmlns:p14="http://schemas.microsoft.com/office/powerpoint/2010/main" val="555238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C3E99-778C-42E3-A837-237CD29E9DF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8A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493BD3-937A-4016-89C6-0EC3C097F9AA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61B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4FBE24-3FAD-4F9E-860A-08900B594B45}"/>
              </a:ext>
            </a:extLst>
          </p:cNvPr>
          <p:cNvSpPr txBox="1"/>
          <p:nvPr/>
        </p:nvSpPr>
        <p:spPr>
          <a:xfrm>
            <a:off x="254000" y="127000"/>
            <a:ext cx="1016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300">
                <a:solidFill>
                  <a:srgbClr val="8B949E"/>
                </a:solidFill>
                <a:latin typeface="Segoe UI" panose="020B0502040204020203" pitchFamily="34" charset="0"/>
              </a:rPr>
              <a:t>Revisao Final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2F6EEA-6E74-4199-939C-ADD5DEAFB670}"/>
              </a:ext>
            </a:extLst>
          </p:cNvPr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pt-BR" sz="1300" b="1">
                <a:solidFill>
                  <a:srgbClr val="58A6FF"/>
                </a:solidFill>
                <a:latin typeface="Segoe UI" panose="020B0502040204020203" pitchFamily="34" charset="0"/>
              </a:rPr>
              <a:t>14 / 15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3F1B7C-FEBD-4A88-AFC4-F0CCA81F60F9}"/>
              </a:ext>
            </a:extLst>
          </p:cNvPr>
          <p:cNvSpPr txBox="1"/>
          <p:nvPr/>
        </p:nvSpPr>
        <p:spPr>
          <a:xfrm>
            <a:off x="508000" y="711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800" b="1">
                <a:solidFill>
                  <a:srgbClr val="58A6FF"/>
                </a:solidFill>
                <a:latin typeface="Segoe UI" panose="020B0502040204020203" pitchFamily="34" charset="0"/>
              </a:rPr>
              <a:t>Resumo dos Comandos SQL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04A87AE-4B40-4361-B6C1-88865F106BE6}"/>
              </a:ext>
            </a:extLst>
          </p:cNvPr>
          <p:cNvSpPr/>
          <p:nvPr/>
        </p:nvSpPr>
        <p:spPr>
          <a:xfrm>
            <a:off x="508000" y="13208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6170A4-9E73-4A63-83BD-D908DA23D066}"/>
              </a:ext>
            </a:extLst>
          </p:cNvPr>
          <p:cNvSpPr txBox="1"/>
          <p:nvPr/>
        </p:nvSpPr>
        <p:spPr>
          <a:xfrm>
            <a:off x="635000" y="13716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CREATE TABLE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50AADF-DCA1-4115-A75D-9D302793466A}"/>
              </a:ext>
            </a:extLst>
          </p:cNvPr>
          <p:cNvSpPr txBox="1"/>
          <p:nvPr/>
        </p:nvSpPr>
        <p:spPr>
          <a:xfrm>
            <a:off x="2222500" y="13716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Cria uma nova tabela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39E1ED8-0E10-4AA1-A23B-698D79D9DEBC}"/>
              </a:ext>
            </a:extLst>
          </p:cNvPr>
          <p:cNvSpPr/>
          <p:nvPr/>
        </p:nvSpPr>
        <p:spPr>
          <a:xfrm>
            <a:off x="5105400" y="14478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D2A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9A16789-A26C-4085-8880-A69165B38166}"/>
              </a:ext>
            </a:extLst>
          </p:cNvPr>
          <p:cNvSpPr txBox="1"/>
          <p:nvPr/>
        </p:nvSpPr>
        <p:spPr>
          <a:xfrm>
            <a:off x="5105400" y="14605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D2A8FF"/>
                </a:solidFill>
                <a:latin typeface="Segoe UI" panose="020B0502040204020203" pitchFamily="34" charset="0"/>
              </a:rPr>
              <a:t>DDL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2859EE4-C9FE-4B04-9E48-3CAB13148FC9}"/>
              </a:ext>
            </a:extLst>
          </p:cNvPr>
          <p:cNvSpPr/>
          <p:nvPr/>
        </p:nvSpPr>
        <p:spPr>
          <a:xfrm>
            <a:off x="508000" y="19050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7A9725B-F89B-483F-AD2E-23F9C1002B01}"/>
              </a:ext>
            </a:extLst>
          </p:cNvPr>
          <p:cNvSpPr txBox="1"/>
          <p:nvPr/>
        </p:nvSpPr>
        <p:spPr>
          <a:xfrm>
            <a:off x="635000" y="19558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INSERT INTO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3A12557-ED9A-4362-B185-FB14AF336CD8}"/>
              </a:ext>
            </a:extLst>
          </p:cNvPr>
          <p:cNvSpPr txBox="1"/>
          <p:nvPr/>
        </p:nvSpPr>
        <p:spPr>
          <a:xfrm>
            <a:off x="2222500" y="19558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Insere novos registros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E467465-7A87-4F55-9696-3E1897389D90}"/>
              </a:ext>
            </a:extLst>
          </p:cNvPr>
          <p:cNvSpPr/>
          <p:nvPr/>
        </p:nvSpPr>
        <p:spPr>
          <a:xfrm>
            <a:off x="5105400" y="20320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C626ECD-466B-48D2-B3B7-D09EEAF0337A}"/>
              </a:ext>
            </a:extLst>
          </p:cNvPr>
          <p:cNvSpPr txBox="1"/>
          <p:nvPr/>
        </p:nvSpPr>
        <p:spPr>
          <a:xfrm>
            <a:off x="5105400" y="20447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8258C37-DA54-43FD-996A-87F7BCBC5E7C}"/>
              </a:ext>
            </a:extLst>
          </p:cNvPr>
          <p:cNvSpPr/>
          <p:nvPr/>
        </p:nvSpPr>
        <p:spPr>
          <a:xfrm>
            <a:off x="508000" y="24892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10A47F-E5E6-4798-819D-C4C81B86E57D}"/>
              </a:ext>
            </a:extLst>
          </p:cNvPr>
          <p:cNvSpPr txBox="1"/>
          <p:nvPr/>
        </p:nvSpPr>
        <p:spPr>
          <a:xfrm>
            <a:off x="635000" y="25400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SELECT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0E3C08-04C2-4447-B77F-8FB839957B34}"/>
              </a:ext>
            </a:extLst>
          </p:cNvPr>
          <p:cNvSpPr txBox="1"/>
          <p:nvPr/>
        </p:nvSpPr>
        <p:spPr>
          <a:xfrm>
            <a:off x="2222500" y="25400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Consulta e le dados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B95EE88-15D0-4356-BBE1-933B952EAAC6}"/>
              </a:ext>
            </a:extLst>
          </p:cNvPr>
          <p:cNvSpPr/>
          <p:nvPr/>
        </p:nvSpPr>
        <p:spPr>
          <a:xfrm>
            <a:off x="5105400" y="26162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34B2AEF-73BA-4E67-8771-77F114E4140A}"/>
              </a:ext>
            </a:extLst>
          </p:cNvPr>
          <p:cNvSpPr txBox="1"/>
          <p:nvPr/>
        </p:nvSpPr>
        <p:spPr>
          <a:xfrm>
            <a:off x="5105400" y="26289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5B1CFE7-C960-408B-9188-434BA6F4FC12}"/>
              </a:ext>
            </a:extLst>
          </p:cNvPr>
          <p:cNvSpPr/>
          <p:nvPr/>
        </p:nvSpPr>
        <p:spPr>
          <a:xfrm>
            <a:off x="508000" y="30734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6A517C-F7D0-41D6-955E-3EA781F4E2BD}"/>
              </a:ext>
            </a:extLst>
          </p:cNvPr>
          <p:cNvSpPr txBox="1"/>
          <p:nvPr/>
        </p:nvSpPr>
        <p:spPr>
          <a:xfrm>
            <a:off x="635000" y="31242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WHERE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FB0B50F-F891-4D31-B339-E7DFDF9E9C6D}"/>
              </a:ext>
            </a:extLst>
          </p:cNvPr>
          <p:cNvSpPr txBox="1"/>
          <p:nvPr/>
        </p:nvSpPr>
        <p:spPr>
          <a:xfrm>
            <a:off x="2222500" y="31242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Filtra por condicao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934B457-A1F2-4058-836F-FD3425801005}"/>
              </a:ext>
            </a:extLst>
          </p:cNvPr>
          <p:cNvSpPr/>
          <p:nvPr/>
        </p:nvSpPr>
        <p:spPr>
          <a:xfrm>
            <a:off x="5105400" y="32004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DD2CF50-AE07-405D-9E55-1CDF05D1BD1F}"/>
              </a:ext>
            </a:extLst>
          </p:cNvPr>
          <p:cNvSpPr txBox="1"/>
          <p:nvPr/>
        </p:nvSpPr>
        <p:spPr>
          <a:xfrm>
            <a:off x="5105400" y="32131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1ED945C-BC1F-4B38-95CC-06EFD1C5DC38}"/>
              </a:ext>
            </a:extLst>
          </p:cNvPr>
          <p:cNvSpPr/>
          <p:nvPr/>
        </p:nvSpPr>
        <p:spPr>
          <a:xfrm>
            <a:off x="508000" y="36576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BE3E527-6261-4B4A-84B8-B72CB680A92A}"/>
              </a:ext>
            </a:extLst>
          </p:cNvPr>
          <p:cNvSpPr txBox="1"/>
          <p:nvPr/>
        </p:nvSpPr>
        <p:spPr>
          <a:xfrm>
            <a:off x="635000" y="37084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ORDER BY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60CCE6D-961E-4302-AC19-7165503EF90E}"/>
              </a:ext>
            </a:extLst>
          </p:cNvPr>
          <p:cNvSpPr txBox="1"/>
          <p:nvPr/>
        </p:nvSpPr>
        <p:spPr>
          <a:xfrm>
            <a:off x="2222500" y="37084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Ordena (ASC/DESC)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799E96C-BB99-4E83-B1AD-960D8DC847CB}"/>
              </a:ext>
            </a:extLst>
          </p:cNvPr>
          <p:cNvSpPr/>
          <p:nvPr/>
        </p:nvSpPr>
        <p:spPr>
          <a:xfrm>
            <a:off x="5105400" y="37846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79EC98A-3428-4DA2-88F7-1D5CC7B4D08D}"/>
              </a:ext>
            </a:extLst>
          </p:cNvPr>
          <p:cNvSpPr txBox="1"/>
          <p:nvPr/>
        </p:nvSpPr>
        <p:spPr>
          <a:xfrm>
            <a:off x="5105400" y="37973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9DDC702-2F52-47E4-898B-53F7E0FEA43C}"/>
              </a:ext>
            </a:extLst>
          </p:cNvPr>
          <p:cNvSpPr/>
          <p:nvPr/>
        </p:nvSpPr>
        <p:spPr>
          <a:xfrm>
            <a:off x="508000" y="42418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064CBB2-66C2-42D1-9ADF-FAFDB9D7C898}"/>
              </a:ext>
            </a:extLst>
          </p:cNvPr>
          <p:cNvSpPr txBox="1"/>
          <p:nvPr/>
        </p:nvSpPr>
        <p:spPr>
          <a:xfrm>
            <a:off x="635000" y="42926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UPDATE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04C0D68-322A-4FAF-A68A-2EF55B09E45E}"/>
              </a:ext>
            </a:extLst>
          </p:cNvPr>
          <p:cNvSpPr txBox="1"/>
          <p:nvPr/>
        </p:nvSpPr>
        <p:spPr>
          <a:xfrm>
            <a:off x="2222500" y="42926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Altera dados existentes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FAB198B-C728-4D29-BAC0-8E0CD277765E}"/>
              </a:ext>
            </a:extLst>
          </p:cNvPr>
          <p:cNvSpPr/>
          <p:nvPr/>
        </p:nvSpPr>
        <p:spPr>
          <a:xfrm>
            <a:off x="5105400" y="43688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6EA09C1-F52D-43ED-85FF-CF02BECB4562}"/>
              </a:ext>
            </a:extLst>
          </p:cNvPr>
          <p:cNvSpPr txBox="1"/>
          <p:nvPr/>
        </p:nvSpPr>
        <p:spPr>
          <a:xfrm>
            <a:off x="5105400" y="43815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87548B2-1A90-469D-84B3-850EAE4B01C8}"/>
              </a:ext>
            </a:extLst>
          </p:cNvPr>
          <p:cNvSpPr/>
          <p:nvPr/>
        </p:nvSpPr>
        <p:spPr>
          <a:xfrm>
            <a:off x="6223000" y="13208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F016C5-9A3F-41B5-A237-0BA074FEE80A}"/>
              </a:ext>
            </a:extLst>
          </p:cNvPr>
          <p:cNvSpPr txBox="1"/>
          <p:nvPr/>
        </p:nvSpPr>
        <p:spPr>
          <a:xfrm>
            <a:off x="6350000" y="13716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DELETE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C435E9E-1441-4B19-BC92-6A5D3504DEFD}"/>
              </a:ext>
            </a:extLst>
          </p:cNvPr>
          <p:cNvSpPr txBox="1"/>
          <p:nvPr/>
        </p:nvSpPr>
        <p:spPr>
          <a:xfrm>
            <a:off x="7937500" y="13716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Remove registros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E7D21427-6BED-420F-9531-76EBCAD5B20C}"/>
              </a:ext>
            </a:extLst>
          </p:cNvPr>
          <p:cNvSpPr/>
          <p:nvPr/>
        </p:nvSpPr>
        <p:spPr>
          <a:xfrm>
            <a:off x="10820400" y="14478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C308625-A66C-4FBA-A4D5-890FBD96F089}"/>
              </a:ext>
            </a:extLst>
          </p:cNvPr>
          <p:cNvSpPr txBox="1"/>
          <p:nvPr/>
        </p:nvSpPr>
        <p:spPr>
          <a:xfrm>
            <a:off x="10820400" y="14605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B6BE5583-CFED-4536-BBB6-2B4329701B9F}"/>
              </a:ext>
            </a:extLst>
          </p:cNvPr>
          <p:cNvSpPr/>
          <p:nvPr/>
        </p:nvSpPr>
        <p:spPr>
          <a:xfrm>
            <a:off x="6223000" y="19050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04B8528-4B84-42BF-A149-601F0851FF0E}"/>
              </a:ext>
            </a:extLst>
          </p:cNvPr>
          <p:cNvSpPr txBox="1"/>
          <p:nvPr/>
        </p:nvSpPr>
        <p:spPr>
          <a:xfrm>
            <a:off x="6350000" y="19558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JOIN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3F3923B-D536-479F-91CB-C769AF2EFF00}"/>
              </a:ext>
            </a:extLst>
          </p:cNvPr>
          <p:cNvSpPr txBox="1"/>
          <p:nvPr/>
        </p:nvSpPr>
        <p:spPr>
          <a:xfrm>
            <a:off x="7937500" y="19558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Une dados de tabelas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0D9B5149-4034-4736-83C6-4C8A79A4B302}"/>
              </a:ext>
            </a:extLst>
          </p:cNvPr>
          <p:cNvSpPr/>
          <p:nvPr/>
        </p:nvSpPr>
        <p:spPr>
          <a:xfrm>
            <a:off x="10820400" y="20320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82D4A26-EB4E-4860-9641-BEFD7DC3EE67}"/>
              </a:ext>
            </a:extLst>
          </p:cNvPr>
          <p:cNvSpPr txBox="1"/>
          <p:nvPr/>
        </p:nvSpPr>
        <p:spPr>
          <a:xfrm>
            <a:off x="10820400" y="20447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D4F8003B-BC46-4D69-8D49-DC1F639CED7D}"/>
              </a:ext>
            </a:extLst>
          </p:cNvPr>
          <p:cNvSpPr/>
          <p:nvPr/>
        </p:nvSpPr>
        <p:spPr>
          <a:xfrm>
            <a:off x="6223000" y="24892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59F13ED-6960-4EEF-85C3-41B7ABB045D6}"/>
              </a:ext>
            </a:extLst>
          </p:cNvPr>
          <p:cNvSpPr txBox="1"/>
          <p:nvPr/>
        </p:nvSpPr>
        <p:spPr>
          <a:xfrm>
            <a:off x="6350000" y="25400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COUNT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48F9788-ECB7-4844-A792-E8C2C64ABF96}"/>
              </a:ext>
            </a:extLst>
          </p:cNvPr>
          <p:cNvSpPr txBox="1"/>
          <p:nvPr/>
        </p:nvSpPr>
        <p:spPr>
          <a:xfrm>
            <a:off x="7937500" y="25400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Conta registros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EBA5787E-361D-47B6-9ADA-A5C71267CBCD}"/>
              </a:ext>
            </a:extLst>
          </p:cNvPr>
          <p:cNvSpPr/>
          <p:nvPr/>
        </p:nvSpPr>
        <p:spPr>
          <a:xfrm>
            <a:off x="10820400" y="26162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3FB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C4DACBB-5112-48A5-8D8D-17320B1C8C0A}"/>
              </a:ext>
            </a:extLst>
          </p:cNvPr>
          <p:cNvSpPr txBox="1"/>
          <p:nvPr/>
        </p:nvSpPr>
        <p:spPr>
          <a:xfrm>
            <a:off x="10820400" y="26289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3FB950"/>
                </a:solidFill>
                <a:latin typeface="Segoe UI" panose="020B0502040204020203" pitchFamily="34" charset="0"/>
              </a:rPr>
              <a:t>Func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E1F6E765-6A66-4712-ABA2-6D11CF01027E}"/>
              </a:ext>
            </a:extLst>
          </p:cNvPr>
          <p:cNvSpPr/>
          <p:nvPr/>
        </p:nvSpPr>
        <p:spPr>
          <a:xfrm>
            <a:off x="6223000" y="30734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B11A5934-C6F3-46C2-A7D7-6079160002F9}"/>
              </a:ext>
            </a:extLst>
          </p:cNvPr>
          <p:cNvSpPr txBox="1"/>
          <p:nvPr/>
        </p:nvSpPr>
        <p:spPr>
          <a:xfrm>
            <a:off x="6350000" y="31242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GROUP BY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FEF1BB0-4CBA-4573-9C4B-5BAD4B37C14E}"/>
              </a:ext>
            </a:extLst>
          </p:cNvPr>
          <p:cNvSpPr txBox="1"/>
          <p:nvPr/>
        </p:nvSpPr>
        <p:spPr>
          <a:xfrm>
            <a:off x="7937500" y="31242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Agrupa para totais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109CAD01-A7E7-4051-83B2-E1E933B1DB4D}"/>
              </a:ext>
            </a:extLst>
          </p:cNvPr>
          <p:cNvSpPr/>
          <p:nvPr/>
        </p:nvSpPr>
        <p:spPr>
          <a:xfrm>
            <a:off x="10820400" y="32004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EEBF096D-7F02-40B8-92BF-BE82423ED4CF}"/>
              </a:ext>
            </a:extLst>
          </p:cNvPr>
          <p:cNvSpPr txBox="1"/>
          <p:nvPr/>
        </p:nvSpPr>
        <p:spPr>
          <a:xfrm>
            <a:off x="10820400" y="32131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72EEDD5B-46FA-46FD-B870-DB90D786AA6B}"/>
              </a:ext>
            </a:extLst>
          </p:cNvPr>
          <p:cNvSpPr/>
          <p:nvPr/>
        </p:nvSpPr>
        <p:spPr>
          <a:xfrm>
            <a:off x="6223000" y="3657600"/>
            <a:ext cx="5461000" cy="533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16C1A18-DC85-4982-87F3-4498A8FD130C}"/>
              </a:ext>
            </a:extLst>
          </p:cNvPr>
          <p:cNvSpPr txBox="1"/>
          <p:nvPr/>
        </p:nvSpPr>
        <p:spPr>
          <a:xfrm>
            <a:off x="6350000" y="37084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200" b="1">
                <a:solidFill>
                  <a:srgbClr val="58A6FF"/>
                </a:solidFill>
                <a:latin typeface="Segoe UI" panose="020B0502040204020203" pitchFamily="34" charset="0"/>
              </a:rPr>
              <a:t>CASE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299F622-B59C-498F-9907-65136ACA426F}"/>
              </a:ext>
            </a:extLst>
          </p:cNvPr>
          <p:cNvSpPr txBox="1"/>
          <p:nvPr/>
        </p:nvSpPr>
        <p:spPr>
          <a:xfrm>
            <a:off x="7937500" y="3708400"/>
            <a:ext cx="349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Condicoes no resultado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3D1F7DFE-87E2-47EA-B7B3-2076FAB958AF}"/>
              </a:ext>
            </a:extLst>
          </p:cNvPr>
          <p:cNvSpPr/>
          <p:nvPr/>
        </p:nvSpPr>
        <p:spPr>
          <a:xfrm>
            <a:off x="10820400" y="3784600"/>
            <a:ext cx="736600" cy="279400"/>
          </a:xfrm>
          <a:prstGeom prst="roundRect">
            <a:avLst/>
          </a:prstGeom>
          <a:solidFill>
            <a:srgbClr val="080819"/>
          </a:solidFill>
          <a:ln w="12700">
            <a:solidFill>
              <a:srgbClr val="58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99488C0-DD6C-4176-BCC4-98B66BB96721}"/>
              </a:ext>
            </a:extLst>
          </p:cNvPr>
          <p:cNvSpPr txBox="1"/>
          <p:nvPr/>
        </p:nvSpPr>
        <p:spPr>
          <a:xfrm>
            <a:off x="10820400" y="3797300"/>
            <a:ext cx="73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900" b="1">
                <a:solidFill>
                  <a:srgbClr val="58A6FF"/>
                </a:solidFill>
                <a:latin typeface="Segoe UI" panose="020B0502040204020203" pitchFamily="34" charset="0"/>
              </a:rPr>
              <a:t>DML</a:t>
            </a:r>
          </a:p>
        </p:txBody>
      </p:sp>
    </p:spTree>
    <p:extLst>
      <p:ext uri="{BB962C8B-B14F-4D97-AF65-F5344CB8AC3E}">
        <p14:creationId xmlns:p14="http://schemas.microsoft.com/office/powerpoint/2010/main" val="399734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A3F838-90DC-41D3-821E-AFF23E97D597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5E265B8-7E93-4B2C-8202-64CCF3A25872}"/>
              </a:ext>
            </a:extLst>
          </p:cNvPr>
          <p:cNvSpPr/>
          <p:nvPr/>
        </p:nvSpPr>
        <p:spPr>
          <a:xfrm>
            <a:off x="4445000" y="787400"/>
            <a:ext cx="3302000" cy="330200"/>
          </a:xfrm>
          <a:prstGeom prst="roundRect">
            <a:avLst/>
          </a:prstGeom>
          <a:solidFill>
            <a:srgbClr val="081E10"/>
          </a:solidFill>
          <a:ln w="12700">
            <a:solidFill>
              <a:srgbClr val="3FB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C69081-9030-4C26-A2F5-3A10D2AF3B3B}"/>
              </a:ext>
            </a:extLst>
          </p:cNvPr>
          <p:cNvSpPr txBox="1"/>
          <p:nvPr/>
        </p:nvSpPr>
        <p:spPr>
          <a:xfrm>
            <a:off x="4445000" y="8128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000" b="1">
                <a:solidFill>
                  <a:srgbClr val="3FB950"/>
                </a:solidFill>
                <a:latin typeface="Segoe UI" panose="020B0502040204020203" pitchFamily="34" charset="0"/>
              </a:rPr>
              <a:t>CONCLUSAO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7443E4F-0112-4AB4-B3F2-9C03C1156439}"/>
              </a:ext>
            </a:extLst>
          </p:cNvPr>
          <p:cNvSpPr txBox="1"/>
          <p:nvPr/>
        </p:nvSpPr>
        <p:spPr>
          <a:xfrm>
            <a:off x="1270000" y="12192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3800" b="1">
                <a:solidFill>
                  <a:srgbClr val="E6EDF3"/>
                </a:solidFill>
                <a:latin typeface="Segoe UI" panose="020B0502040204020203" pitchFamily="34" charset="0"/>
              </a:rPr>
              <a:t>Parabens! Voce conseguiu!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1B08DD-11CA-400C-A031-CD93D137BCFF}"/>
              </a:ext>
            </a:extLst>
          </p:cNvPr>
          <p:cNvSpPr txBox="1"/>
          <p:nvPr/>
        </p:nvSpPr>
        <p:spPr>
          <a:xfrm>
            <a:off x="1270000" y="2082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B949E"/>
                </a:solidFill>
                <a:latin typeface="Segoe UI" panose="020B0502040204020203" pitchFamily="34" charset="0"/>
              </a:rPr>
              <a:t>Voce aprendeu a construir um banco de dados SQLite completo para uma biblioteca universitaria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4B7A881-762A-4CF3-A513-0095526DBD6E}"/>
              </a:ext>
            </a:extLst>
          </p:cNvPr>
          <p:cNvSpPr txBox="1"/>
          <p:nvPr/>
        </p:nvSpPr>
        <p:spPr>
          <a:xfrm>
            <a:off x="1270000" y="24130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B949E"/>
                </a:solidFill>
                <a:latin typeface="Segoe UI" panose="020B0502040204020203" pitchFamily="34" charset="0"/>
              </a:rPr>
              <a:t>do zero ate consultas avancadas com JOIN, GROUP BY e CASE!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904ED65-C20C-4C63-A1AF-20C3D1A8653F}"/>
              </a:ext>
            </a:extLst>
          </p:cNvPr>
          <p:cNvSpPr/>
          <p:nvPr/>
        </p:nvSpPr>
        <p:spPr>
          <a:xfrm>
            <a:off x="952500" y="2921000"/>
            <a:ext cx="2476500" cy="127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C2AC508-3CB6-4116-BC5A-BCE52BF5C54C}"/>
              </a:ext>
            </a:extLst>
          </p:cNvPr>
          <p:cNvSpPr/>
          <p:nvPr/>
        </p:nvSpPr>
        <p:spPr>
          <a:xfrm>
            <a:off x="952500" y="2921000"/>
            <a:ext cx="2476500" cy="508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58147EF-2B36-474D-AFA7-E894DACFC48B}"/>
              </a:ext>
            </a:extLst>
          </p:cNvPr>
          <p:cNvSpPr txBox="1"/>
          <p:nvPr/>
        </p:nvSpPr>
        <p:spPr>
          <a:xfrm>
            <a:off x="952500" y="32004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3FB950"/>
                </a:solidFill>
                <a:latin typeface="Segoe UI" panose="020B0502040204020203" pitchFamily="34" charset="0"/>
              </a:rPr>
              <a:t>4 tabelas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B222A0-3BD1-4615-A389-367147DE1405}"/>
              </a:ext>
            </a:extLst>
          </p:cNvPr>
          <p:cNvSpPr txBox="1"/>
          <p:nvPr/>
        </p:nvSpPr>
        <p:spPr>
          <a:xfrm>
            <a:off x="952500" y="3530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criadas com FOREIGN KEYS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7315554-D0CE-4553-84FB-CE7613B31051}"/>
              </a:ext>
            </a:extLst>
          </p:cNvPr>
          <p:cNvSpPr/>
          <p:nvPr/>
        </p:nvSpPr>
        <p:spPr>
          <a:xfrm>
            <a:off x="3683000" y="2921000"/>
            <a:ext cx="2476500" cy="127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4C4FFA4-E93C-4A61-AA2B-35EA03E4457A}"/>
              </a:ext>
            </a:extLst>
          </p:cNvPr>
          <p:cNvSpPr/>
          <p:nvPr/>
        </p:nvSpPr>
        <p:spPr>
          <a:xfrm>
            <a:off x="3683000" y="2921000"/>
            <a:ext cx="2476500" cy="508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E00C87-6EEA-4FE0-8A0B-CF705AAB020B}"/>
              </a:ext>
            </a:extLst>
          </p:cNvPr>
          <p:cNvSpPr txBox="1"/>
          <p:nvPr/>
        </p:nvSpPr>
        <p:spPr>
          <a:xfrm>
            <a:off x="3683000" y="32004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3FB950"/>
                </a:solidFill>
                <a:latin typeface="Segoe UI" panose="020B0502040204020203" pitchFamily="34" charset="0"/>
              </a:rPr>
              <a:t>20 registros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41A336C-C773-432E-8294-54A39C1A6E2C}"/>
              </a:ext>
            </a:extLst>
          </p:cNvPr>
          <p:cNvSpPr txBox="1"/>
          <p:nvPr/>
        </p:nvSpPr>
        <p:spPr>
          <a:xfrm>
            <a:off x="3683000" y="3530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inseridos no banco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44453E7-84A3-47C6-BDD0-01B5452D6888}"/>
              </a:ext>
            </a:extLst>
          </p:cNvPr>
          <p:cNvSpPr/>
          <p:nvPr/>
        </p:nvSpPr>
        <p:spPr>
          <a:xfrm>
            <a:off x="6413500" y="2921000"/>
            <a:ext cx="2476500" cy="127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359E46B-55D1-49FB-9A0F-C1A62B34EC05}"/>
              </a:ext>
            </a:extLst>
          </p:cNvPr>
          <p:cNvSpPr/>
          <p:nvPr/>
        </p:nvSpPr>
        <p:spPr>
          <a:xfrm>
            <a:off x="6413500" y="2921000"/>
            <a:ext cx="2476500" cy="508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6EB9247-025D-4E42-B8A4-9BDCA96FF170}"/>
              </a:ext>
            </a:extLst>
          </p:cNvPr>
          <p:cNvSpPr txBox="1"/>
          <p:nvPr/>
        </p:nvSpPr>
        <p:spPr>
          <a:xfrm>
            <a:off x="6413500" y="32004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3FB950"/>
                </a:solidFill>
                <a:latin typeface="Segoe UI" panose="020B0502040204020203" pitchFamily="34" charset="0"/>
              </a:rPr>
              <a:t>11 comandos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B3B3860-D373-44D9-B4A0-7B87A78FD4CB}"/>
              </a:ext>
            </a:extLst>
          </p:cNvPr>
          <p:cNvSpPr txBox="1"/>
          <p:nvPr/>
        </p:nvSpPr>
        <p:spPr>
          <a:xfrm>
            <a:off x="6413500" y="3530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SQL dominados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79A7203-202A-4F95-8B5F-05E839D9FEE1}"/>
              </a:ext>
            </a:extLst>
          </p:cNvPr>
          <p:cNvSpPr/>
          <p:nvPr/>
        </p:nvSpPr>
        <p:spPr>
          <a:xfrm>
            <a:off x="9144000" y="2921000"/>
            <a:ext cx="2476500" cy="1270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2260456-2710-440D-9BAF-83AB3A7927E6}"/>
              </a:ext>
            </a:extLst>
          </p:cNvPr>
          <p:cNvSpPr/>
          <p:nvPr/>
        </p:nvSpPr>
        <p:spPr>
          <a:xfrm>
            <a:off x="9144000" y="2921000"/>
            <a:ext cx="2476500" cy="508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0A6D67C-3736-4E8B-A10A-CCD0AC14B3C9}"/>
              </a:ext>
            </a:extLst>
          </p:cNvPr>
          <p:cNvSpPr txBox="1"/>
          <p:nvPr/>
        </p:nvSpPr>
        <p:spPr>
          <a:xfrm>
            <a:off x="9144000" y="32004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3FB950"/>
                </a:solidFill>
                <a:latin typeface="Segoe UI" panose="020B0502040204020203" pitchFamily="34" charset="0"/>
              </a:rPr>
              <a:t>15 exercicios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DEC5FD-D176-4C3E-88B4-DBAECB967D12}"/>
              </a:ext>
            </a:extLst>
          </p:cNvPr>
          <p:cNvSpPr txBox="1"/>
          <p:nvPr/>
        </p:nvSpPr>
        <p:spPr>
          <a:xfrm>
            <a:off x="9144000" y="35306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100">
                <a:solidFill>
                  <a:srgbClr val="8B949E"/>
                </a:solidFill>
                <a:latin typeface="Segoe UI" panose="020B0502040204020203" pitchFamily="34" charset="0"/>
              </a:rPr>
              <a:t>para praticar!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CA142C8-4696-4357-8BCF-62FCD28ED110}"/>
              </a:ext>
            </a:extLst>
          </p:cNvPr>
          <p:cNvSpPr txBox="1"/>
          <p:nvPr/>
        </p:nvSpPr>
        <p:spPr>
          <a:xfrm>
            <a:off x="1270000" y="44704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8B949E"/>
                </a:solidFill>
                <a:latin typeface="Segoe UI" panose="020B0502040204020203" pitchFamily="34" charset="0"/>
              </a:rPr>
              <a:t>Proximo passo: complete os 15 exercicios e o Desafio Final!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5453FB6-6768-4805-8964-BB19C118CE0A}"/>
              </a:ext>
            </a:extLst>
          </p:cNvPr>
          <p:cNvSpPr/>
          <p:nvPr/>
        </p:nvSpPr>
        <p:spPr>
          <a:xfrm>
            <a:off x="0" y="5257800"/>
            <a:ext cx="12192000" cy="381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A51AF92-B4C3-4A3D-AFE7-D0717E711071}"/>
              </a:ext>
            </a:extLst>
          </p:cNvPr>
          <p:cNvSpPr txBox="1"/>
          <p:nvPr/>
        </p:nvSpPr>
        <p:spPr>
          <a:xfrm>
            <a:off x="508000" y="53848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200">
                <a:solidFill>
                  <a:srgbClr val="8B949E"/>
                </a:solidFill>
                <a:latin typeface="Segoe UI" panose="020B0502040204020203" pitchFamily="34" charset="0"/>
              </a:rPr>
              <a:t>Banco de Dados | SQLite | Biblioteca Universitaria | Atividade Pratica</a:t>
            </a:r>
          </a:p>
        </p:txBody>
      </p:sp>
    </p:spTree>
    <p:extLst>
      <p:ext uri="{BB962C8B-B14F-4D97-AF65-F5344CB8AC3E}">
        <p14:creationId xmlns:p14="http://schemas.microsoft.com/office/powerpoint/2010/main" val="24018868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1753</Words>
  <Application>Microsoft Office PowerPoint</Application>
  <PresentationFormat>Personalizar</PresentationFormat>
  <Paragraphs>265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Almeida de Oliveira Braga</dc:creator>
  <cp:lastModifiedBy>Fernando Almeida de Oliveira Braga</cp:lastModifiedBy>
  <cp:revision>1</cp:revision>
  <dcterms:created xsi:type="dcterms:W3CDTF">2026-10-06T23:57:08Z</dcterms:created>
  <dcterms:modified xsi:type="dcterms:W3CDTF">2026-10-06T23:57:08Z</dcterms:modified>
</cp:coreProperties>
</file>